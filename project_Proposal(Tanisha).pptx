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2" r:id="rId4"/>
    <p:sldId id="259" r:id="rId5"/>
    <p:sldId id="260" r:id="rId6"/>
    <p:sldId id="273" r:id="rId7"/>
    <p:sldId id="262" r:id="rId8"/>
    <p:sldId id="263" r:id="rId9"/>
    <p:sldId id="266" r:id="rId10"/>
    <p:sldId id="274" r:id="rId11"/>
    <p:sldId id="267" r:id="rId12"/>
    <p:sldId id="268" r:id="rId13"/>
    <p:sldId id="269" r:id="rId14"/>
    <p:sldId id="270" r:id="rId15"/>
    <p:sldId id="27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028" y="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9B60D-C906-4AAF-8D35-C83FB89A669B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58E27-D771-4A7C-8187-633C9ED03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8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58E27-D771-4A7C-8187-633C9ED034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0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691"/>
          </a:solidFill>
          <a:ln>
            <a:solidFill>
              <a:srgbClr val="18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" cy="4297680"/>
          </a:xfrm>
          <a:prstGeom prst="rect">
            <a:avLst/>
          </a:prstGeom>
          <a:solidFill>
            <a:srgbClr val="4CBECD"/>
          </a:solidFill>
          <a:ln>
            <a:solidFill>
              <a:srgbClr val="4C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078992"/>
            <a:ext cx="98755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Aptos"/>
              </a:rPr>
              <a:t>EMERGENCY RESOURCE &amp;
INVENTORY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606040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D2E2EE"/>
                </a:solidFill>
                <a:latin typeface="Aptos"/>
              </a:rPr>
              <a:t>A full-stack platform for emergency supply management,
distribution, and resource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" y="3794760"/>
            <a:ext cx="1965960" cy="45720"/>
          </a:xfrm>
          <a:prstGeom prst="rect">
            <a:avLst/>
          </a:prstGeom>
          <a:solidFill>
            <a:srgbClr val="189691"/>
          </a:solidFill>
          <a:ln>
            <a:solidFill>
              <a:srgbClr val="18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40416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CBECD"/>
                </a:solidFill>
                <a:latin typeface="Aptos"/>
              </a:rPr>
              <a:t>Project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572000"/>
            <a:ext cx="502920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FFFFFF"/>
                </a:solidFill>
                <a:latin typeface="Aptos"/>
              </a:rPr>
              <a:t>Presented by: Ta</a:t>
            </a:r>
            <a:r>
              <a:rPr lang="en-US" sz="1300" dirty="0">
                <a:solidFill>
                  <a:srgbClr val="FFFFFF"/>
                </a:solidFill>
                <a:latin typeface="Aptos"/>
              </a:rPr>
              <a:t>nisha </a:t>
            </a:r>
            <a:r>
              <a:rPr lang="en-US" sz="1300" dirty="0" err="1">
                <a:solidFill>
                  <a:srgbClr val="FFFFFF"/>
                </a:solidFill>
                <a:latin typeface="Aptos"/>
              </a:rPr>
              <a:t>Taranoon</a:t>
            </a:r>
            <a:r>
              <a:rPr lang="en-US" sz="1300" dirty="0">
                <a:solidFill>
                  <a:srgbClr val="FFFFFF"/>
                </a:solidFill>
                <a:latin typeface="Aptos"/>
              </a:rPr>
              <a:t> Hridy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
Department of Computer Science &amp; Engineering
University of Asia Pacific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A43A203-8F87-C945-AB88-76270878B115}"/>
              </a:ext>
            </a:extLst>
          </p:cNvPr>
          <p:cNvGrpSpPr/>
          <p:nvPr/>
        </p:nvGrpSpPr>
        <p:grpSpPr>
          <a:xfrm>
            <a:off x="7726679" y="3828047"/>
            <a:ext cx="3337560" cy="1417320"/>
            <a:chOff x="7726679" y="3828047"/>
            <a:chExt cx="3337560" cy="1417320"/>
          </a:xfrm>
        </p:grpSpPr>
        <p:sp>
          <p:nvSpPr>
            <p:cNvPr id="9" name="Rounded Rectangle 8"/>
            <p:cNvSpPr/>
            <p:nvPr/>
          </p:nvSpPr>
          <p:spPr>
            <a:xfrm>
              <a:off x="7726679" y="3828047"/>
              <a:ext cx="3337560" cy="1417320"/>
            </a:xfrm>
            <a:prstGeom prst="roundRect">
              <a:avLst/>
            </a:prstGeom>
            <a:solidFill>
              <a:srgbClr val="1C3958"/>
            </a:solidFill>
            <a:ln>
              <a:solidFill>
                <a:srgbClr val="3A5B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955279" y="4069080"/>
              <a:ext cx="86868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900" b="0">
                  <a:solidFill>
                    <a:srgbClr val="E2EBF2"/>
                  </a:solidFill>
                  <a:latin typeface="Aptos"/>
                </a:rPr>
                <a:t>Stock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955279" y="4370832"/>
              <a:ext cx="86868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>
                  <a:solidFill>
                    <a:srgbClr val="189691"/>
                  </a:solidFill>
                  <a:latin typeface="Aptos"/>
                </a:rPr>
                <a:t>82%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979408" y="4069080"/>
              <a:ext cx="86868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900" b="0">
                  <a:solidFill>
                    <a:srgbClr val="E2EBF2"/>
                  </a:solidFill>
                  <a:latin typeface="Aptos"/>
                </a:rPr>
                <a:t>Alerts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979408" y="4370832"/>
              <a:ext cx="86868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>
                  <a:solidFill>
                    <a:srgbClr val="E88E36"/>
                  </a:solidFill>
                  <a:latin typeface="Aptos"/>
                </a:rPr>
                <a:t>17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003536" y="4069080"/>
              <a:ext cx="86868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900" b="0">
                  <a:solidFill>
                    <a:srgbClr val="E2EBF2"/>
                  </a:solidFill>
                  <a:latin typeface="Aptos"/>
                </a:rPr>
                <a:t>Events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003536" y="4370832"/>
              <a:ext cx="86868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>
                  <a:solidFill>
                    <a:srgbClr val="4CBECD"/>
                  </a:solidFill>
                  <a:latin typeface="Aptos"/>
                </a:rPr>
                <a:t>03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772400" y="557784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4CBECD"/>
                </a:solidFill>
                <a:latin typeface="Aptos"/>
              </a:rPr>
              <a:t>Centralized • Traceable • Data-driven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33E"/>
                </a:solidFill>
                <a:latin typeface="Aptos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C7D"/>
                </a:solidFill>
                <a:latin typeface="Aptos"/>
              </a:rPr>
              <a:t>Why emergency resource management needs a centralized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F233E"/>
                </a:solidFill>
                <a:latin typeface="Aptos"/>
              </a:rPr>
              <a:t>Emergency response depends on more than having supplies.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74519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C6C7D"/>
                </a:solidFill>
                <a:latin typeface="Aptos"/>
              </a:rPr>
              <a:t>Organizations must know what is available, where it is stored, what is required, and when replenishment is needed.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983945-1DCA-C2B4-8E16-F5DABCE9E849}"/>
              </a:ext>
            </a:extLst>
          </p:cNvPr>
          <p:cNvGrpSpPr/>
          <p:nvPr/>
        </p:nvGrpSpPr>
        <p:grpSpPr>
          <a:xfrm>
            <a:off x="713232" y="2743200"/>
            <a:ext cx="4983480" cy="960120"/>
            <a:chOff x="713232" y="2743200"/>
            <a:chExt cx="4983480" cy="960120"/>
          </a:xfrm>
        </p:grpSpPr>
        <p:sp>
          <p:nvSpPr>
            <p:cNvPr id="6" name="Rounded Rectangle 5"/>
            <p:cNvSpPr/>
            <p:nvPr/>
          </p:nvSpPr>
          <p:spPr>
            <a:xfrm>
              <a:off x="713232" y="2743200"/>
              <a:ext cx="4983480" cy="9601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713232" y="2743200"/>
              <a:ext cx="73152" cy="960120"/>
            </a:xfrm>
            <a:prstGeom prst="rect">
              <a:avLst/>
            </a:prstGeom>
            <a:solidFill>
              <a:srgbClr val="226CB4"/>
            </a:solidFill>
            <a:ln>
              <a:solidFill>
                <a:srgbClr val="226C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2907792"/>
              <a:ext cx="461772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rgbClr val="0F233E"/>
                  </a:solidFill>
                  <a:latin typeface="Aptos"/>
                </a:rPr>
                <a:t>Multiple locations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3273552"/>
              <a:ext cx="461772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00" b="0">
                  <a:solidFill>
                    <a:srgbClr val="5C6C7D"/>
                  </a:solidFill>
                  <a:latin typeface="Aptos"/>
                </a:rPr>
                <a:t>Warehouses, depots, relief centers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0189FB0-22DB-2590-435A-C0F99EA21726}"/>
              </a:ext>
            </a:extLst>
          </p:cNvPr>
          <p:cNvGrpSpPr/>
          <p:nvPr/>
        </p:nvGrpSpPr>
        <p:grpSpPr>
          <a:xfrm>
            <a:off x="6245352" y="2743200"/>
            <a:ext cx="4983480" cy="960120"/>
            <a:chOff x="6245352" y="2743200"/>
            <a:chExt cx="4983480" cy="960120"/>
          </a:xfrm>
        </p:grpSpPr>
        <p:sp>
          <p:nvSpPr>
            <p:cNvPr id="10" name="Rounded Rectangle 9"/>
            <p:cNvSpPr/>
            <p:nvPr/>
          </p:nvSpPr>
          <p:spPr>
            <a:xfrm>
              <a:off x="6245352" y="2743200"/>
              <a:ext cx="4983480" cy="9601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45352" y="2743200"/>
              <a:ext cx="73152" cy="960120"/>
            </a:xfrm>
            <a:prstGeom prst="rect">
              <a:avLst/>
            </a:prstGeom>
            <a:solidFill>
              <a:srgbClr val="189691"/>
            </a:solidFill>
            <a:ln>
              <a:solidFill>
                <a:srgbClr val="1896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46520" y="2907792"/>
              <a:ext cx="461772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rgbClr val="0F233E"/>
                  </a:solidFill>
                  <a:latin typeface="Aptos"/>
                </a:rPr>
                <a:t>Critical supplies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46520" y="3273552"/>
              <a:ext cx="461772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00" b="0">
                  <a:solidFill>
                    <a:srgbClr val="5C6C7D"/>
                  </a:solidFill>
                  <a:latin typeface="Aptos"/>
                </a:rPr>
                <a:t>Food, water, medicine, shelter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6E4BD75-3031-212D-870E-592A38C14902}"/>
              </a:ext>
            </a:extLst>
          </p:cNvPr>
          <p:cNvGrpSpPr/>
          <p:nvPr/>
        </p:nvGrpSpPr>
        <p:grpSpPr>
          <a:xfrm>
            <a:off x="713232" y="4069080"/>
            <a:ext cx="4983480" cy="960120"/>
            <a:chOff x="713232" y="4069080"/>
            <a:chExt cx="4983480" cy="960120"/>
          </a:xfrm>
        </p:grpSpPr>
        <p:sp>
          <p:nvSpPr>
            <p:cNvPr id="14" name="Rounded Rectangle 13"/>
            <p:cNvSpPr/>
            <p:nvPr/>
          </p:nvSpPr>
          <p:spPr>
            <a:xfrm>
              <a:off x="713232" y="4069080"/>
              <a:ext cx="4983480" cy="9601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13232" y="4069080"/>
              <a:ext cx="73152" cy="960120"/>
            </a:xfrm>
            <a:prstGeom prst="rect">
              <a:avLst/>
            </a:prstGeom>
            <a:solidFill>
              <a:srgbClr val="E88E36"/>
            </a:solidFill>
            <a:ln>
              <a:solidFill>
                <a:srgbClr val="E88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4400" y="4233672"/>
              <a:ext cx="461772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rgbClr val="0F233E"/>
                  </a:solidFill>
                  <a:latin typeface="Aptos"/>
                </a:rPr>
                <a:t>Time-sensitive response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4400" y="4599432"/>
              <a:ext cx="461772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00" b="0">
                  <a:solidFill>
                    <a:srgbClr val="5C6C7D"/>
                  </a:solidFill>
                  <a:latin typeface="Aptos"/>
                </a:rPr>
                <a:t>Shortages and delays have consequences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F57BCA-4536-818D-5BAA-3009D633405F}"/>
              </a:ext>
            </a:extLst>
          </p:cNvPr>
          <p:cNvGrpSpPr/>
          <p:nvPr/>
        </p:nvGrpSpPr>
        <p:grpSpPr>
          <a:xfrm>
            <a:off x="6245352" y="4069080"/>
            <a:ext cx="4983480" cy="960120"/>
            <a:chOff x="6245352" y="4069080"/>
            <a:chExt cx="4983480" cy="960120"/>
          </a:xfrm>
        </p:grpSpPr>
        <p:sp>
          <p:nvSpPr>
            <p:cNvPr id="18" name="Rounded Rectangle 17"/>
            <p:cNvSpPr/>
            <p:nvPr/>
          </p:nvSpPr>
          <p:spPr>
            <a:xfrm>
              <a:off x="6245352" y="4069080"/>
              <a:ext cx="4983480" cy="9601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245352" y="4069080"/>
              <a:ext cx="73152" cy="960120"/>
            </a:xfrm>
            <a:prstGeom prst="rect">
              <a:avLst/>
            </a:prstGeom>
            <a:solidFill>
              <a:srgbClr val="349969"/>
            </a:solidFill>
            <a:ln>
              <a:solidFill>
                <a:srgbClr val="34996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46520" y="4233672"/>
              <a:ext cx="461772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>
                  <a:solidFill>
                    <a:srgbClr val="0F233E"/>
                  </a:solidFill>
                  <a:latin typeface="Aptos"/>
                </a:rPr>
                <a:t>Operational visibility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46520" y="4599432"/>
              <a:ext cx="461772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100" b="0">
                  <a:solidFill>
                    <a:srgbClr val="5C6C7D"/>
                  </a:solidFill>
                  <a:latin typeface="Aptos"/>
                </a:rPr>
                <a:t>Decisions require reliable information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C7D"/>
                </a:solidFill>
                <a:latin typeface="Aptos"/>
              </a:rPr>
              <a:t>ERIMS • Project Proposal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0528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C7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BDB8F-01B8-47E5-A83C-FCA29387C024}"/>
              </a:ext>
            </a:extLst>
          </p:cNvPr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A4A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FAA7F-D104-49FB-A925-6E32BB9EA054}"/>
              </a:ext>
            </a:extLst>
          </p:cNvPr>
          <p:cNvSpPr txBox="1"/>
          <p:nvPr/>
        </p:nvSpPr>
        <p:spPr>
          <a:xfrm>
            <a:off x="9966960" y="438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091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15CBAE-B147-4644-B22B-038D2CE58AD6}"/>
              </a:ext>
            </a:extLst>
          </p:cNvPr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057AF-4FED-4259-B307-B714D659E45C}"/>
              </a:ext>
            </a:extLst>
          </p:cNvPr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</a:defRPr>
            </a:pPr>
            <a:r>
              <a:t>ERIMS | Project Proposal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512DF-3CEE-475E-AEAD-4E196B29F445}"/>
              </a:ext>
            </a:extLst>
          </p:cNvPr>
          <p:cNvSpPr txBox="1"/>
          <p:nvPr/>
        </p:nvSpPr>
        <p:spPr>
          <a:xfrm>
            <a:off x="10881360" y="650138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A"/>
                </a:solidFill>
              </a:defRPr>
            </a:pPr>
            <a: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F7330C-736A-41F8-BD82-CD846210DB33}"/>
              </a:ext>
            </a:extLst>
          </p:cNvPr>
          <p:cNvSpPr txBox="1"/>
          <p:nvPr/>
        </p:nvSpPr>
        <p:spPr>
          <a:xfrm>
            <a:off x="822960" y="1143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A4A"/>
                </a:solidFill>
                <a:latin typeface="Aptos"/>
              </a:defRPr>
            </a:pPr>
            <a:r>
              <a:t>Key operational challenges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7302A2E-0124-0FC2-7FF4-6493B0BD2CC9}"/>
              </a:ext>
            </a:extLst>
          </p:cNvPr>
          <p:cNvGrpSpPr/>
          <p:nvPr/>
        </p:nvGrpSpPr>
        <p:grpSpPr>
          <a:xfrm>
            <a:off x="822960" y="1737360"/>
            <a:ext cx="4983480" cy="1051560"/>
            <a:chOff x="822960" y="1737360"/>
            <a:chExt cx="4983480" cy="1051560"/>
          </a:xfrm>
        </p:grpSpPr>
        <p:sp>
          <p:nvSpPr>
            <p:cNvPr id="8" name="Rounded Rectangle 9">
              <a:extLst>
                <a:ext uri="{FF2B5EF4-FFF2-40B4-BE49-F238E27FC236}">
                  <a16:creationId xmlns:a16="http://schemas.microsoft.com/office/drawing/2014/main" id="{525F84B5-08B1-4C96-8F34-0CFD75D9BEEF}"/>
                </a:ext>
              </a:extLst>
            </p:cNvPr>
            <p:cNvSpPr/>
            <p:nvPr/>
          </p:nvSpPr>
          <p:spPr>
            <a:xfrm>
              <a:off x="822960" y="1737360"/>
              <a:ext cx="4983480" cy="10515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E4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978506-7D5A-4AE6-81EC-347F8E0A01CE}"/>
                </a:ext>
              </a:extLst>
            </p:cNvPr>
            <p:cNvSpPr/>
            <p:nvPr/>
          </p:nvSpPr>
          <p:spPr>
            <a:xfrm>
              <a:off x="822960" y="1737360"/>
              <a:ext cx="82296" cy="1051560"/>
            </a:xfrm>
            <a:prstGeom prst="rect">
              <a:avLst/>
            </a:prstGeom>
            <a:solidFill>
              <a:srgbClr val="2665A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E54531B-5199-43F3-A00F-3065CAEE858D}"/>
                </a:ext>
              </a:extLst>
            </p:cNvPr>
            <p:cNvSpPr txBox="1"/>
            <p:nvPr/>
          </p:nvSpPr>
          <p:spPr>
            <a:xfrm>
              <a:off x="1051560" y="1901952"/>
              <a:ext cx="45720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142A4A"/>
                  </a:solidFill>
                  <a:latin typeface="Aptos"/>
                </a:defRPr>
              </a:pPr>
              <a:r>
                <a:t>Fragmented stock visibility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371456-8329-47C9-B9D9-E61DC492B881}"/>
                </a:ext>
              </a:extLst>
            </p:cNvPr>
            <p:cNvSpPr txBox="1"/>
            <p:nvPr/>
          </p:nvSpPr>
          <p:spPr>
            <a:xfrm>
              <a:off x="1051560" y="2304288"/>
              <a:ext cx="4572000" cy="3383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50" b="0">
                  <a:solidFill>
                    <a:srgbClr val="5F6C7A"/>
                  </a:solidFill>
                  <a:latin typeface="Aptos"/>
                </a:defRPr>
              </a:pPr>
              <a:r>
                <a:t>Stock is spread across warehouses and relief centers.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E1B50D1-723E-EAFD-C6CE-41859D312CC8}"/>
              </a:ext>
            </a:extLst>
          </p:cNvPr>
          <p:cNvGrpSpPr/>
          <p:nvPr/>
        </p:nvGrpSpPr>
        <p:grpSpPr>
          <a:xfrm>
            <a:off x="6309360" y="1737360"/>
            <a:ext cx="4983480" cy="1051560"/>
            <a:chOff x="6309360" y="1737360"/>
            <a:chExt cx="4983480" cy="1051560"/>
          </a:xfrm>
        </p:grpSpPr>
        <p:sp>
          <p:nvSpPr>
            <p:cNvPr id="12" name="Rounded Rectangle 13">
              <a:extLst>
                <a:ext uri="{FF2B5EF4-FFF2-40B4-BE49-F238E27FC236}">
                  <a16:creationId xmlns:a16="http://schemas.microsoft.com/office/drawing/2014/main" id="{4D96FA98-8877-4FA8-A8D1-FA1DBADA4EA9}"/>
                </a:ext>
              </a:extLst>
            </p:cNvPr>
            <p:cNvSpPr/>
            <p:nvPr/>
          </p:nvSpPr>
          <p:spPr>
            <a:xfrm>
              <a:off x="6309360" y="1737360"/>
              <a:ext cx="4983480" cy="10515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E4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61FE72-AAAC-44A6-B2F9-930F6C2C72A0}"/>
                </a:ext>
              </a:extLst>
            </p:cNvPr>
            <p:cNvSpPr/>
            <p:nvPr/>
          </p:nvSpPr>
          <p:spPr>
            <a:xfrm>
              <a:off x="6309360" y="1737360"/>
              <a:ext cx="82296" cy="1051560"/>
            </a:xfrm>
            <a:prstGeom prst="rect">
              <a:avLst/>
            </a:prstGeom>
            <a:solidFill>
              <a:srgbClr val="E3853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C02A776-CC67-4668-9D29-BCB96B254355}"/>
                </a:ext>
              </a:extLst>
            </p:cNvPr>
            <p:cNvSpPr txBox="1"/>
            <p:nvPr/>
          </p:nvSpPr>
          <p:spPr>
            <a:xfrm>
              <a:off x="6537960" y="1901952"/>
              <a:ext cx="45720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142A4A"/>
                  </a:solidFill>
                  <a:latin typeface="Aptos"/>
                </a:defRPr>
              </a:pPr>
              <a:r>
                <a:t>Late shortage and expiry alerts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B0BCB08-B962-43DC-8CBC-50EA15354A50}"/>
                </a:ext>
              </a:extLst>
            </p:cNvPr>
            <p:cNvSpPr txBox="1"/>
            <p:nvPr/>
          </p:nvSpPr>
          <p:spPr>
            <a:xfrm>
              <a:off x="6537960" y="2304288"/>
              <a:ext cx="4572000" cy="3383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50" b="0">
                  <a:solidFill>
                    <a:srgbClr val="5F6C7A"/>
                  </a:solidFill>
                  <a:latin typeface="Aptos"/>
                </a:defRPr>
              </a:pPr>
              <a:r>
                <a:t>Low or expiring items are noticed only after they cause problems.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D5E6C4D-699C-5BFC-88DC-E8895E9F6C52}"/>
              </a:ext>
            </a:extLst>
          </p:cNvPr>
          <p:cNvGrpSpPr/>
          <p:nvPr/>
        </p:nvGrpSpPr>
        <p:grpSpPr>
          <a:xfrm>
            <a:off x="822960" y="3063239"/>
            <a:ext cx="4983480" cy="1051560"/>
            <a:chOff x="822960" y="3063239"/>
            <a:chExt cx="4983480" cy="1051560"/>
          </a:xfrm>
        </p:grpSpPr>
        <p:sp>
          <p:nvSpPr>
            <p:cNvPr id="16" name="Rounded Rectangle 17">
              <a:extLst>
                <a:ext uri="{FF2B5EF4-FFF2-40B4-BE49-F238E27FC236}">
                  <a16:creationId xmlns:a16="http://schemas.microsoft.com/office/drawing/2014/main" id="{D2346FB6-959D-49D4-9214-66C65B051B44}"/>
                </a:ext>
              </a:extLst>
            </p:cNvPr>
            <p:cNvSpPr/>
            <p:nvPr/>
          </p:nvSpPr>
          <p:spPr>
            <a:xfrm>
              <a:off x="822960" y="3063239"/>
              <a:ext cx="4983480" cy="10515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E4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7DD6E32-84FF-4364-B0D6-10A485649C56}"/>
                </a:ext>
              </a:extLst>
            </p:cNvPr>
            <p:cNvSpPr/>
            <p:nvPr/>
          </p:nvSpPr>
          <p:spPr>
            <a:xfrm>
              <a:off x="822960" y="3063239"/>
              <a:ext cx="82296" cy="1051560"/>
            </a:xfrm>
            <a:prstGeom prst="rect">
              <a:avLst/>
            </a:prstGeom>
            <a:solidFill>
              <a:srgbClr val="C240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EEA1406-AA20-4890-BBC4-603B0C93BC68}"/>
                </a:ext>
              </a:extLst>
            </p:cNvPr>
            <p:cNvSpPr txBox="1"/>
            <p:nvPr/>
          </p:nvSpPr>
          <p:spPr>
            <a:xfrm>
              <a:off x="1051560" y="3227832"/>
              <a:ext cx="45720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142A4A"/>
                  </a:solidFill>
                  <a:latin typeface="Aptos"/>
                </a:defRPr>
              </a:pPr>
              <a:r>
                <a:t>No clear audit trail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01917AC-ED2F-41FD-9217-8EF69FAF253F}"/>
                </a:ext>
              </a:extLst>
            </p:cNvPr>
            <p:cNvSpPr txBox="1"/>
            <p:nvPr/>
          </p:nvSpPr>
          <p:spPr>
            <a:xfrm>
              <a:off x="1051560" y="3630168"/>
              <a:ext cx="4572000" cy="3383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50" b="0">
                  <a:solidFill>
                    <a:srgbClr val="5F6C7A"/>
                  </a:solidFill>
                  <a:latin typeface="Aptos"/>
                </a:defRPr>
              </a:pPr>
              <a:r>
                <a:t>Hard to tell who moved which supplies, when, and why.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9A1432B-6E44-FA14-4D36-776A58932EC9}"/>
              </a:ext>
            </a:extLst>
          </p:cNvPr>
          <p:cNvGrpSpPr/>
          <p:nvPr/>
        </p:nvGrpSpPr>
        <p:grpSpPr>
          <a:xfrm>
            <a:off x="6309360" y="3063239"/>
            <a:ext cx="4983480" cy="1051560"/>
            <a:chOff x="6309360" y="3063239"/>
            <a:chExt cx="4983480" cy="1051560"/>
          </a:xfrm>
        </p:grpSpPr>
        <p:sp>
          <p:nvSpPr>
            <p:cNvPr id="20" name="Rounded Rectangle 21">
              <a:extLst>
                <a:ext uri="{FF2B5EF4-FFF2-40B4-BE49-F238E27FC236}">
                  <a16:creationId xmlns:a16="http://schemas.microsoft.com/office/drawing/2014/main" id="{2BBD3ABC-2D74-4ECF-AC94-19BB38DCDDA1}"/>
                </a:ext>
              </a:extLst>
            </p:cNvPr>
            <p:cNvSpPr/>
            <p:nvPr/>
          </p:nvSpPr>
          <p:spPr>
            <a:xfrm>
              <a:off x="6309360" y="3063239"/>
              <a:ext cx="4983480" cy="10515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E4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4D85F44-029B-4E9B-A0A2-388EB3635116}"/>
                </a:ext>
              </a:extLst>
            </p:cNvPr>
            <p:cNvSpPr/>
            <p:nvPr/>
          </p:nvSpPr>
          <p:spPr>
            <a:xfrm>
              <a:off x="6309360" y="3063239"/>
              <a:ext cx="82296" cy="1051560"/>
            </a:xfrm>
            <a:prstGeom prst="rect">
              <a:avLst/>
            </a:prstGeom>
            <a:solidFill>
              <a:srgbClr val="2091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D20C175-B4AE-45BD-899C-F6341F1838D1}"/>
                </a:ext>
              </a:extLst>
            </p:cNvPr>
            <p:cNvSpPr txBox="1"/>
            <p:nvPr/>
          </p:nvSpPr>
          <p:spPr>
            <a:xfrm>
              <a:off x="6537960" y="3227832"/>
              <a:ext cx="45720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142A4A"/>
                  </a:solidFill>
                  <a:latin typeface="Aptos"/>
                </a:defRPr>
              </a:pPr>
              <a:r>
                <a:t>Readiness is guessed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ABC272-AB43-4FD3-925E-1B7C61E68406}"/>
                </a:ext>
              </a:extLst>
            </p:cNvPr>
            <p:cNvSpPr txBox="1"/>
            <p:nvPr/>
          </p:nvSpPr>
          <p:spPr>
            <a:xfrm>
              <a:off x="6537960" y="3630168"/>
              <a:ext cx="4572000" cy="3383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50" b="0">
                  <a:solidFill>
                    <a:srgbClr val="5F6C7A"/>
                  </a:solidFill>
                  <a:latin typeface="Aptos"/>
                </a:defRPr>
              </a:pPr>
              <a:r>
                <a:t>No quick way to compare what an emergency needs with what is in stock.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933ECC7-5C64-0C0B-295F-AB810B56279E}"/>
              </a:ext>
            </a:extLst>
          </p:cNvPr>
          <p:cNvGrpSpPr/>
          <p:nvPr/>
        </p:nvGrpSpPr>
        <p:grpSpPr>
          <a:xfrm>
            <a:off x="822960" y="4389120"/>
            <a:ext cx="4983480" cy="1051560"/>
            <a:chOff x="822960" y="4389120"/>
            <a:chExt cx="4983480" cy="1051560"/>
          </a:xfrm>
        </p:grpSpPr>
        <p:sp>
          <p:nvSpPr>
            <p:cNvPr id="24" name="Rounded Rectangle 25">
              <a:extLst>
                <a:ext uri="{FF2B5EF4-FFF2-40B4-BE49-F238E27FC236}">
                  <a16:creationId xmlns:a16="http://schemas.microsoft.com/office/drawing/2014/main" id="{569A04B9-B73E-4FC2-8D97-CF0E88EEFE71}"/>
                </a:ext>
              </a:extLst>
            </p:cNvPr>
            <p:cNvSpPr/>
            <p:nvPr/>
          </p:nvSpPr>
          <p:spPr>
            <a:xfrm>
              <a:off x="822960" y="4389120"/>
              <a:ext cx="4983480" cy="10515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E4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24D2567-411F-489B-9046-E5D1455FA804}"/>
                </a:ext>
              </a:extLst>
            </p:cNvPr>
            <p:cNvSpPr/>
            <p:nvPr/>
          </p:nvSpPr>
          <p:spPr>
            <a:xfrm>
              <a:off x="822960" y="4389120"/>
              <a:ext cx="82296" cy="1051560"/>
            </a:xfrm>
            <a:prstGeom prst="rect">
              <a:avLst/>
            </a:prstGeom>
            <a:solidFill>
              <a:srgbClr val="2665A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2840F08-87E7-467B-A3F3-8511EE132E2D}"/>
                </a:ext>
              </a:extLst>
            </p:cNvPr>
            <p:cNvSpPr txBox="1"/>
            <p:nvPr/>
          </p:nvSpPr>
          <p:spPr>
            <a:xfrm>
              <a:off x="1051560" y="4553712"/>
              <a:ext cx="45720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142A4A"/>
                  </a:solidFill>
                  <a:latin typeface="Aptos"/>
                </a:defRPr>
              </a:pPr>
              <a:r>
                <a:t>Manual transfer decisions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96C9366-F85A-47D6-B9CE-0CA7AD9D6EC9}"/>
                </a:ext>
              </a:extLst>
            </p:cNvPr>
            <p:cNvSpPr txBox="1"/>
            <p:nvPr/>
          </p:nvSpPr>
          <p:spPr>
            <a:xfrm>
              <a:off x="1051560" y="4956048"/>
              <a:ext cx="4572000" cy="3383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50" b="0">
                  <a:solidFill>
                    <a:srgbClr val="5F6C7A"/>
                  </a:solidFill>
                  <a:latin typeface="Aptos"/>
                </a:defRPr>
              </a:pPr>
              <a:r>
                <a:t>Finding where to source a shortfall means searching through records.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35D7115-98EC-9DAB-CC4A-0896862CE259}"/>
              </a:ext>
            </a:extLst>
          </p:cNvPr>
          <p:cNvGrpSpPr/>
          <p:nvPr/>
        </p:nvGrpSpPr>
        <p:grpSpPr>
          <a:xfrm>
            <a:off x="6309360" y="4389120"/>
            <a:ext cx="4983480" cy="1051560"/>
            <a:chOff x="6309360" y="4389120"/>
            <a:chExt cx="4983480" cy="1051560"/>
          </a:xfrm>
        </p:grpSpPr>
        <p:sp>
          <p:nvSpPr>
            <p:cNvPr id="28" name="Rounded Rectangle 29">
              <a:extLst>
                <a:ext uri="{FF2B5EF4-FFF2-40B4-BE49-F238E27FC236}">
                  <a16:creationId xmlns:a16="http://schemas.microsoft.com/office/drawing/2014/main" id="{002AF663-D50B-466B-ADF5-C6135E319E20}"/>
                </a:ext>
              </a:extLst>
            </p:cNvPr>
            <p:cNvSpPr/>
            <p:nvPr/>
          </p:nvSpPr>
          <p:spPr>
            <a:xfrm>
              <a:off x="6309360" y="4389120"/>
              <a:ext cx="4983480" cy="10515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E4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893B0DD-5269-4B5A-AA81-900840C9E176}"/>
                </a:ext>
              </a:extLst>
            </p:cNvPr>
            <p:cNvSpPr/>
            <p:nvPr/>
          </p:nvSpPr>
          <p:spPr>
            <a:xfrm>
              <a:off x="6309360" y="4389120"/>
              <a:ext cx="82296" cy="1051560"/>
            </a:xfrm>
            <a:prstGeom prst="rect">
              <a:avLst/>
            </a:prstGeom>
            <a:solidFill>
              <a:srgbClr val="E3853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2ABC98-5878-441B-B743-D3DB2C198DD6}"/>
                </a:ext>
              </a:extLst>
            </p:cNvPr>
            <p:cNvSpPr txBox="1"/>
            <p:nvPr/>
          </p:nvSpPr>
          <p:spPr>
            <a:xfrm>
              <a:off x="6537960" y="4553712"/>
              <a:ext cx="45720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142A4A"/>
                  </a:solidFill>
                  <a:latin typeface="Aptos"/>
                </a:defRPr>
              </a:pPr>
              <a:r>
                <a:t>Avoidable expiry waste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9809DFD-EB3A-4084-912D-D48DA9ACA6FE}"/>
                </a:ext>
              </a:extLst>
            </p:cNvPr>
            <p:cNvSpPr txBox="1"/>
            <p:nvPr/>
          </p:nvSpPr>
          <p:spPr>
            <a:xfrm>
              <a:off x="6537960" y="4956048"/>
              <a:ext cx="4572000" cy="3383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50" b="0">
                  <a:solidFill>
                    <a:srgbClr val="5F6C7A"/>
                  </a:solidFill>
                  <a:latin typeface="Aptos"/>
                </a:defRPr>
              </a:pPr>
              <a:r>
                <a:t>Older stock is not used first, so usable supplies are wasted.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296A7E34-EF3D-4C20-9124-4C4439F1EF97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2145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5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33E"/>
                </a:solidFill>
                <a:latin typeface="Aptos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C7D"/>
                </a:solidFill>
                <a:latin typeface="Aptos"/>
              </a:rPr>
              <a:t>Core idea: a readiness check built on a solid inventory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879599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33E"/>
                </a:solidFill>
                <a:latin typeface="Aptos"/>
              </a:rPr>
              <a:t>ERIMS tracks stock across locations and, for any emergency, shows what is short and where to transfer supplies from.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2F02199-D9D8-4564-A8C1-2406ADA1B41D}"/>
              </a:ext>
            </a:extLst>
          </p:cNvPr>
          <p:cNvGrpSpPr/>
          <p:nvPr/>
        </p:nvGrpSpPr>
        <p:grpSpPr>
          <a:xfrm>
            <a:off x="6263640" y="4663440"/>
            <a:ext cx="2331720" cy="777240"/>
            <a:chOff x="6263640" y="4663440"/>
            <a:chExt cx="2331720" cy="777240"/>
          </a:xfrm>
        </p:grpSpPr>
        <p:sp>
          <p:nvSpPr>
            <p:cNvPr id="23" name="Rounded Rectangle 22"/>
            <p:cNvSpPr/>
            <p:nvPr/>
          </p:nvSpPr>
          <p:spPr>
            <a:xfrm>
              <a:off x="6263640" y="4663440"/>
              <a:ext cx="2331720" cy="7772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263640" y="4663440"/>
              <a:ext cx="2331720" cy="73152"/>
            </a:xfrm>
            <a:prstGeom prst="rect">
              <a:avLst/>
            </a:prstGeom>
            <a:solidFill>
              <a:srgbClr val="0F233E"/>
            </a:solidFill>
            <a:ln>
              <a:solidFill>
                <a:srgbClr val="0F23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263640" y="4919471"/>
              <a:ext cx="233172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500" b="1">
                  <a:solidFill>
                    <a:srgbClr val="0F233E"/>
                  </a:solidFill>
                  <a:latin typeface="Aptos"/>
                </a:rPr>
                <a:t>Dashboard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9EE5B3-71CF-4E2B-4B3A-844B5D522074}"/>
              </a:ext>
            </a:extLst>
          </p:cNvPr>
          <p:cNvGrpSpPr/>
          <p:nvPr/>
        </p:nvGrpSpPr>
        <p:grpSpPr>
          <a:xfrm>
            <a:off x="777240" y="3429000"/>
            <a:ext cx="2886456" cy="777240"/>
            <a:chOff x="777240" y="3429000"/>
            <a:chExt cx="2886456" cy="77724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D9A49FC-53CA-66F8-DE4F-4FD7EA47C050}"/>
                </a:ext>
              </a:extLst>
            </p:cNvPr>
            <p:cNvGrpSpPr/>
            <p:nvPr/>
          </p:nvGrpSpPr>
          <p:grpSpPr>
            <a:xfrm>
              <a:off x="777240" y="3429000"/>
              <a:ext cx="2331720" cy="777240"/>
              <a:chOff x="777240" y="3429000"/>
              <a:chExt cx="2331720" cy="777240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777240" y="3429000"/>
                <a:ext cx="2331720" cy="77724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2EBF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777240" y="3429000"/>
                <a:ext cx="2331720" cy="73152"/>
              </a:xfrm>
              <a:prstGeom prst="rect">
                <a:avLst/>
              </a:prstGeom>
              <a:solidFill>
                <a:srgbClr val="226CB4"/>
              </a:solidFill>
              <a:ln>
                <a:solidFill>
                  <a:srgbClr val="226CB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77240" y="3685032"/>
                <a:ext cx="2331720" cy="228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500" b="1">
                    <a:solidFill>
                      <a:srgbClr val="0F233E"/>
                    </a:solidFill>
                    <a:latin typeface="Aptos"/>
                  </a:rPr>
                  <a:t>Locations &amp; Stock</a:t>
                </a: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5A83591-043C-474D-B21D-2FECEB2F9DEC}"/>
                </a:ext>
              </a:extLst>
            </p:cNvPr>
            <p:cNvSpPr txBox="1"/>
            <p:nvPr/>
          </p:nvSpPr>
          <p:spPr>
            <a:xfrm>
              <a:off x="2965704" y="3615944"/>
              <a:ext cx="697992" cy="366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5F6C7A"/>
                  </a:solidFill>
                  <a:latin typeface="Aptos"/>
                </a:defRPr>
              </a:pPr>
              <a:r>
                <a:rPr dirty="0"/>
                <a:t>→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183A6F9-8CA0-1629-BBC5-0ABC5DF5B97D}"/>
              </a:ext>
            </a:extLst>
          </p:cNvPr>
          <p:cNvGrpSpPr/>
          <p:nvPr/>
        </p:nvGrpSpPr>
        <p:grpSpPr>
          <a:xfrm>
            <a:off x="3520440" y="3429000"/>
            <a:ext cx="2924556" cy="777240"/>
            <a:chOff x="3520440" y="3429000"/>
            <a:chExt cx="2924556" cy="777240"/>
          </a:xfrm>
        </p:grpSpPr>
        <p:sp>
          <p:nvSpPr>
            <p:cNvPr id="8" name="Rounded Rectangle 7"/>
            <p:cNvSpPr/>
            <p:nvPr/>
          </p:nvSpPr>
          <p:spPr>
            <a:xfrm>
              <a:off x="3520440" y="3429000"/>
              <a:ext cx="2331720" cy="7772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3520440" y="3429000"/>
              <a:ext cx="2331720" cy="73152"/>
            </a:xfrm>
            <a:prstGeom prst="rect">
              <a:avLst/>
            </a:prstGeom>
            <a:solidFill>
              <a:srgbClr val="189691"/>
            </a:solidFill>
            <a:ln>
              <a:solidFill>
                <a:srgbClr val="1896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20440" y="3685032"/>
              <a:ext cx="2331720" cy="3231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F233E"/>
                  </a:solidFill>
                  <a:latin typeface="Aptos"/>
                </a:rPr>
                <a:t>Delivered Item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E768972-7556-4093-9DAA-F1E734D2D83B}"/>
                </a:ext>
              </a:extLst>
            </p:cNvPr>
            <p:cNvSpPr txBox="1"/>
            <p:nvPr/>
          </p:nvSpPr>
          <p:spPr>
            <a:xfrm>
              <a:off x="5747004" y="3573779"/>
              <a:ext cx="697992" cy="366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5F6C7A"/>
                  </a:solidFill>
                  <a:latin typeface="Aptos"/>
                </a:defRPr>
              </a:pPr>
              <a:r>
                <a:rPr dirty="0"/>
                <a:t>→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5FEDB5B-C8E4-B9DC-BC7B-3D1495647890}"/>
              </a:ext>
            </a:extLst>
          </p:cNvPr>
          <p:cNvGrpSpPr/>
          <p:nvPr/>
        </p:nvGrpSpPr>
        <p:grpSpPr>
          <a:xfrm>
            <a:off x="6263640" y="3429000"/>
            <a:ext cx="2908737" cy="777240"/>
            <a:chOff x="6263640" y="3429000"/>
            <a:chExt cx="2908737" cy="777240"/>
          </a:xfrm>
        </p:grpSpPr>
        <p:sp>
          <p:nvSpPr>
            <p:cNvPr id="11" name="Rounded Rectangle 10"/>
            <p:cNvSpPr/>
            <p:nvPr/>
          </p:nvSpPr>
          <p:spPr>
            <a:xfrm>
              <a:off x="6263640" y="3429000"/>
              <a:ext cx="2331720" cy="7772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63640" y="3429000"/>
              <a:ext cx="2331720" cy="73152"/>
            </a:xfrm>
            <a:prstGeom prst="rect">
              <a:avLst/>
            </a:prstGeom>
            <a:solidFill>
              <a:srgbClr val="349969"/>
            </a:solidFill>
            <a:ln>
              <a:solidFill>
                <a:srgbClr val="34996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63640" y="3685032"/>
              <a:ext cx="233172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500" b="1">
                  <a:solidFill>
                    <a:srgbClr val="0F233E"/>
                  </a:solidFill>
                  <a:latin typeface="Aptos"/>
                </a:rPr>
                <a:t>Alerts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ED3ECBF-5D01-4666-902A-FC414E49A5CF}"/>
                </a:ext>
              </a:extLst>
            </p:cNvPr>
            <p:cNvSpPr txBox="1"/>
            <p:nvPr/>
          </p:nvSpPr>
          <p:spPr>
            <a:xfrm>
              <a:off x="8474385" y="3617395"/>
              <a:ext cx="697992" cy="366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5F6C7A"/>
                  </a:solidFill>
                  <a:latin typeface="Aptos"/>
                </a:defRPr>
              </a:pPr>
              <a:r>
                <a:rPr dirty="0"/>
                <a:t>→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F263D85-727B-4EF2-2A42-8A74B806E795}"/>
              </a:ext>
            </a:extLst>
          </p:cNvPr>
          <p:cNvGrpSpPr/>
          <p:nvPr/>
        </p:nvGrpSpPr>
        <p:grpSpPr>
          <a:xfrm>
            <a:off x="9006840" y="3429000"/>
            <a:ext cx="3029712" cy="777240"/>
            <a:chOff x="9006840" y="3429000"/>
            <a:chExt cx="3029712" cy="777240"/>
          </a:xfrm>
        </p:grpSpPr>
        <p:sp>
          <p:nvSpPr>
            <p:cNvPr id="14" name="Rounded Rectangle 13"/>
            <p:cNvSpPr/>
            <p:nvPr/>
          </p:nvSpPr>
          <p:spPr>
            <a:xfrm>
              <a:off x="9006840" y="3429000"/>
              <a:ext cx="2331720" cy="7772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006840" y="3429000"/>
              <a:ext cx="2331720" cy="73152"/>
            </a:xfrm>
            <a:prstGeom prst="rect">
              <a:avLst/>
            </a:prstGeom>
            <a:solidFill>
              <a:srgbClr val="E88E36"/>
            </a:solidFill>
            <a:ln>
              <a:solidFill>
                <a:srgbClr val="E88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006840" y="3685032"/>
              <a:ext cx="233172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500" b="1">
                  <a:solidFill>
                    <a:srgbClr val="0F233E"/>
                  </a:solidFill>
                  <a:latin typeface="Aptos"/>
                </a:rPr>
                <a:t>Scenario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D2C69DA-C76C-427F-BEAC-BFBE0EE2E142}"/>
                </a:ext>
              </a:extLst>
            </p:cNvPr>
            <p:cNvSpPr txBox="1"/>
            <p:nvPr/>
          </p:nvSpPr>
          <p:spPr>
            <a:xfrm>
              <a:off x="11338560" y="3614391"/>
              <a:ext cx="697992" cy="366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5F6C7A"/>
                  </a:solidFill>
                  <a:latin typeface="Aptos"/>
                </a:defRPr>
              </a:pPr>
              <a:r>
                <a:rPr dirty="0"/>
                <a:t>→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CF1B340-394B-46D8-CD15-D141F687072C}"/>
              </a:ext>
            </a:extLst>
          </p:cNvPr>
          <p:cNvGrpSpPr/>
          <p:nvPr/>
        </p:nvGrpSpPr>
        <p:grpSpPr>
          <a:xfrm>
            <a:off x="777240" y="4663440"/>
            <a:ext cx="2921290" cy="777240"/>
            <a:chOff x="777240" y="4663440"/>
            <a:chExt cx="2921290" cy="777240"/>
          </a:xfrm>
        </p:grpSpPr>
        <p:sp>
          <p:nvSpPr>
            <p:cNvPr id="17" name="Rounded Rectangle 16"/>
            <p:cNvSpPr/>
            <p:nvPr/>
          </p:nvSpPr>
          <p:spPr>
            <a:xfrm>
              <a:off x="777240" y="4663440"/>
              <a:ext cx="2331720" cy="7772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77240" y="4663440"/>
              <a:ext cx="2331720" cy="73152"/>
            </a:xfrm>
            <a:prstGeom prst="rect">
              <a:avLst/>
            </a:prstGeom>
            <a:solidFill>
              <a:srgbClr val="CC4C4C"/>
            </a:solidFill>
            <a:ln>
              <a:solidFill>
                <a:srgbClr val="CC4C4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77240" y="4919471"/>
              <a:ext cx="233172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500" b="1">
                  <a:solidFill>
                    <a:srgbClr val="0F233E"/>
                  </a:solidFill>
                  <a:latin typeface="Aptos"/>
                </a:rPr>
                <a:t>Readiness Check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7AB784C-1678-44E1-B1F8-B574CE30CCDC}"/>
                </a:ext>
              </a:extLst>
            </p:cNvPr>
            <p:cNvSpPr txBox="1"/>
            <p:nvPr/>
          </p:nvSpPr>
          <p:spPr>
            <a:xfrm>
              <a:off x="3000538" y="4882896"/>
              <a:ext cx="697992" cy="366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5F6C7A"/>
                  </a:solidFill>
                  <a:latin typeface="Aptos"/>
                </a:defRPr>
              </a:pPr>
              <a:r>
                <a:rPr dirty="0"/>
                <a:t>→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74A2720-377A-9EBA-F9D7-BD0499D43CB1}"/>
              </a:ext>
            </a:extLst>
          </p:cNvPr>
          <p:cNvGrpSpPr/>
          <p:nvPr/>
        </p:nvGrpSpPr>
        <p:grpSpPr>
          <a:xfrm>
            <a:off x="3520440" y="4663440"/>
            <a:ext cx="2924556" cy="777240"/>
            <a:chOff x="3520440" y="4663440"/>
            <a:chExt cx="2924556" cy="777240"/>
          </a:xfrm>
        </p:grpSpPr>
        <p:sp>
          <p:nvSpPr>
            <p:cNvPr id="20" name="Rounded Rectangle 19"/>
            <p:cNvSpPr/>
            <p:nvPr/>
          </p:nvSpPr>
          <p:spPr>
            <a:xfrm>
              <a:off x="3520440" y="4663440"/>
              <a:ext cx="2331720" cy="7772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520440" y="4663440"/>
              <a:ext cx="2331720" cy="73152"/>
            </a:xfrm>
            <a:prstGeom prst="rect">
              <a:avLst/>
            </a:prstGeom>
            <a:solidFill>
              <a:srgbClr val="4CBECD"/>
            </a:solidFill>
            <a:ln>
              <a:solidFill>
                <a:srgbClr val="4CBE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520440" y="4919471"/>
              <a:ext cx="233172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500" b="1">
                  <a:solidFill>
                    <a:srgbClr val="0F233E"/>
                  </a:solidFill>
                  <a:latin typeface="Aptos"/>
                </a:rPr>
                <a:t>Transfer Plan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71F3112-CF3C-4276-A98B-EAEFB2376144}"/>
                </a:ext>
              </a:extLst>
            </p:cNvPr>
            <p:cNvSpPr txBox="1"/>
            <p:nvPr/>
          </p:nvSpPr>
          <p:spPr>
            <a:xfrm>
              <a:off x="5747004" y="4895596"/>
              <a:ext cx="697992" cy="366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5F6C7A"/>
                  </a:solidFill>
                  <a:latin typeface="Aptos"/>
                </a:defRPr>
              </a:pPr>
              <a:r>
                <a:rPr dirty="0"/>
                <a:t>→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5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33E"/>
                </a:solidFill>
                <a:latin typeface="Aptos"/>
              </a:rPr>
              <a:t>Project Scope (MVP)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427B7A5-26D1-9CE0-0BD9-66503973CFDF}"/>
              </a:ext>
            </a:extLst>
          </p:cNvPr>
          <p:cNvGrpSpPr/>
          <p:nvPr/>
        </p:nvGrpSpPr>
        <p:grpSpPr>
          <a:xfrm>
            <a:off x="822960" y="1325880"/>
            <a:ext cx="5212080" cy="384048"/>
            <a:chOff x="822960" y="1325880"/>
            <a:chExt cx="5212080" cy="384048"/>
          </a:xfrm>
        </p:grpSpPr>
        <p:sp>
          <p:nvSpPr>
            <p:cNvPr id="4" name="Oval 3"/>
            <p:cNvSpPr/>
            <p:nvPr/>
          </p:nvSpPr>
          <p:spPr>
            <a:xfrm>
              <a:off x="822960" y="1344168"/>
              <a:ext cx="365760" cy="365760"/>
            </a:xfrm>
            <a:prstGeom prst="ellipse">
              <a:avLst/>
            </a:prstGeom>
            <a:solidFill>
              <a:srgbClr val="189691"/>
            </a:solidFill>
            <a:ln>
              <a:solidFill>
                <a:srgbClr val="1896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22960" y="1362456"/>
              <a:ext cx="36576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Aptos"/>
                </a:rPr>
                <a:t>✓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71600" y="1325880"/>
              <a:ext cx="466344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0">
                  <a:solidFill>
                    <a:srgbClr val="232E3D"/>
                  </a:solidFill>
                  <a:latin typeface="Aptos"/>
                </a:rPr>
                <a:t>Locations, supplies, and stock tracking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0A534A2-676A-E514-1E8A-D50A956DF6C4}"/>
              </a:ext>
            </a:extLst>
          </p:cNvPr>
          <p:cNvGrpSpPr/>
          <p:nvPr/>
        </p:nvGrpSpPr>
        <p:grpSpPr>
          <a:xfrm>
            <a:off x="6355080" y="1325880"/>
            <a:ext cx="5212080" cy="384048"/>
            <a:chOff x="6355080" y="1325880"/>
            <a:chExt cx="5212080" cy="384048"/>
          </a:xfrm>
        </p:grpSpPr>
        <p:sp>
          <p:nvSpPr>
            <p:cNvPr id="7" name="Oval 6"/>
            <p:cNvSpPr/>
            <p:nvPr/>
          </p:nvSpPr>
          <p:spPr>
            <a:xfrm>
              <a:off x="6355080" y="1344168"/>
              <a:ext cx="365760" cy="365760"/>
            </a:xfrm>
            <a:prstGeom prst="ellipse">
              <a:avLst/>
            </a:prstGeom>
            <a:solidFill>
              <a:srgbClr val="189691"/>
            </a:solidFill>
            <a:ln>
              <a:solidFill>
                <a:srgbClr val="1896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55080" y="1362456"/>
              <a:ext cx="36576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Aptos"/>
                </a:rPr>
                <a:t>✓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903720" y="1325880"/>
              <a:ext cx="466344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0">
                  <a:solidFill>
                    <a:srgbClr val="232E3D"/>
                  </a:solidFill>
                  <a:latin typeface="Aptos"/>
                </a:rPr>
                <a:t>Stock transactions with audit history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A0E6F45-7B01-7FAA-FD16-B4FC6AACD3EB}"/>
              </a:ext>
            </a:extLst>
          </p:cNvPr>
          <p:cNvGrpSpPr/>
          <p:nvPr/>
        </p:nvGrpSpPr>
        <p:grpSpPr>
          <a:xfrm>
            <a:off x="822960" y="2286000"/>
            <a:ext cx="5212080" cy="384048"/>
            <a:chOff x="822960" y="2286000"/>
            <a:chExt cx="5212080" cy="384048"/>
          </a:xfrm>
        </p:grpSpPr>
        <p:sp>
          <p:nvSpPr>
            <p:cNvPr id="10" name="Oval 9"/>
            <p:cNvSpPr/>
            <p:nvPr/>
          </p:nvSpPr>
          <p:spPr>
            <a:xfrm>
              <a:off x="822960" y="2304288"/>
              <a:ext cx="365760" cy="365760"/>
            </a:xfrm>
            <a:prstGeom prst="ellipse">
              <a:avLst/>
            </a:prstGeom>
            <a:solidFill>
              <a:srgbClr val="189691"/>
            </a:solidFill>
            <a:ln>
              <a:solidFill>
                <a:srgbClr val="1896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22960" y="2322576"/>
              <a:ext cx="36576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Aptos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371600" y="2286000"/>
              <a:ext cx="466344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0" dirty="0">
                  <a:solidFill>
                    <a:srgbClr val="232E3D"/>
                  </a:solidFill>
                  <a:latin typeface="Aptos"/>
                </a:rPr>
                <a:t>Low-stock and expiry alerts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E5C28C8-4160-3A96-5DFD-910A567DB631}"/>
              </a:ext>
            </a:extLst>
          </p:cNvPr>
          <p:cNvGrpSpPr/>
          <p:nvPr/>
        </p:nvGrpSpPr>
        <p:grpSpPr>
          <a:xfrm>
            <a:off x="6355080" y="2286000"/>
            <a:ext cx="5212080" cy="384048"/>
            <a:chOff x="6355080" y="2286000"/>
            <a:chExt cx="5212080" cy="384048"/>
          </a:xfrm>
        </p:grpSpPr>
        <p:sp>
          <p:nvSpPr>
            <p:cNvPr id="13" name="Oval 12"/>
            <p:cNvSpPr/>
            <p:nvPr/>
          </p:nvSpPr>
          <p:spPr>
            <a:xfrm>
              <a:off x="6355080" y="2304288"/>
              <a:ext cx="365760" cy="365760"/>
            </a:xfrm>
            <a:prstGeom prst="ellipse">
              <a:avLst/>
            </a:prstGeom>
            <a:solidFill>
              <a:srgbClr val="189691"/>
            </a:solidFill>
            <a:ln>
              <a:solidFill>
                <a:srgbClr val="1896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55080" y="2322576"/>
              <a:ext cx="36576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Aptos"/>
                </a:rPr>
                <a:t>✓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903720" y="2286000"/>
              <a:ext cx="466344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0">
                  <a:solidFill>
                    <a:srgbClr val="232E3D"/>
                  </a:solidFill>
                  <a:latin typeface="Aptos"/>
                </a:rPr>
                <a:t>Emergency events with required resources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9F2E9B9-EBD1-A285-88F8-4B5CFBDC0CE1}"/>
              </a:ext>
            </a:extLst>
          </p:cNvPr>
          <p:cNvGrpSpPr/>
          <p:nvPr/>
        </p:nvGrpSpPr>
        <p:grpSpPr>
          <a:xfrm>
            <a:off x="822960" y="3246120"/>
            <a:ext cx="5212080" cy="384048"/>
            <a:chOff x="822960" y="3246120"/>
            <a:chExt cx="5212080" cy="384048"/>
          </a:xfrm>
        </p:grpSpPr>
        <p:sp>
          <p:nvSpPr>
            <p:cNvPr id="16" name="Oval 15"/>
            <p:cNvSpPr/>
            <p:nvPr/>
          </p:nvSpPr>
          <p:spPr>
            <a:xfrm>
              <a:off x="822960" y="3264408"/>
              <a:ext cx="365760" cy="365760"/>
            </a:xfrm>
            <a:prstGeom prst="ellipse">
              <a:avLst/>
            </a:prstGeom>
            <a:solidFill>
              <a:srgbClr val="189691"/>
            </a:solidFill>
            <a:ln>
              <a:solidFill>
                <a:srgbClr val="1896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22960" y="3282696"/>
              <a:ext cx="36576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Aptos"/>
                </a:rPr>
                <a:t>✓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71600" y="3246120"/>
              <a:ext cx="466344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0">
                  <a:solidFill>
                    <a:srgbClr val="232E3D"/>
                  </a:solidFill>
                  <a:latin typeface="Aptos"/>
                </a:rPr>
                <a:t>Readiness check: required vs available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829B7BC-F445-E772-F05B-6015C937F8FE}"/>
              </a:ext>
            </a:extLst>
          </p:cNvPr>
          <p:cNvGrpSpPr/>
          <p:nvPr/>
        </p:nvGrpSpPr>
        <p:grpSpPr>
          <a:xfrm>
            <a:off x="6355080" y="3246120"/>
            <a:ext cx="5212080" cy="384048"/>
            <a:chOff x="6355080" y="3246120"/>
            <a:chExt cx="5212080" cy="384048"/>
          </a:xfrm>
        </p:grpSpPr>
        <p:sp>
          <p:nvSpPr>
            <p:cNvPr id="19" name="Oval 18"/>
            <p:cNvSpPr/>
            <p:nvPr/>
          </p:nvSpPr>
          <p:spPr>
            <a:xfrm>
              <a:off x="6355080" y="3264408"/>
              <a:ext cx="365760" cy="365760"/>
            </a:xfrm>
            <a:prstGeom prst="ellipse">
              <a:avLst/>
            </a:prstGeom>
            <a:solidFill>
              <a:srgbClr val="189691"/>
            </a:solidFill>
            <a:ln>
              <a:solidFill>
                <a:srgbClr val="1896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355080" y="3282696"/>
              <a:ext cx="36576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Aptos"/>
                </a:rPr>
                <a:t>✓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03720" y="3246120"/>
              <a:ext cx="466344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0">
                  <a:solidFill>
                    <a:srgbClr val="232E3D"/>
                  </a:solidFill>
                  <a:latin typeface="Aptos"/>
                </a:rPr>
                <a:t>Transfer suggestions from other locations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CAE588F-3983-801E-B868-03C77D2EF657}"/>
              </a:ext>
            </a:extLst>
          </p:cNvPr>
          <p:cNvGrpSpPr/>
          <p:nvPr/>
        </p:nvGrpSpPr>
        <p:grpSpPr>
          <a:xfrm>
            <a:off x="822960" y="4206240"/>
            <a:ext cx="5212080" cy="384048"/>
            <a:chOff x="822960" y="4206240"/>
            <a:chExt cx="5212080" cy="384048"/>
          </a:xfrm>
        </p:grpSpPr>
        <p:sp>
          <p:nvSpPr>
            <p:cNvPr id="22" name="Oval 21"/>
            <p:cNvSpPr/>
            <p:nvPr/>
          </p:nvSpPr>
          <p:spPr>
            <a:xfrm>
              <a:off x="822960" y="4224528"/>
              <a:ext cx="365760" cy="365760"/>
            </a:xfrm>
            <a:prstGeom prst="ellipse">
              <a:avLst/>
            </a:prstGeom>
            <a:solidFill>
              <a:srgbClr val="189691"/>
            </a:solidFill>
            <a:ln>
              <a:solidFill>
                <a:srgbClr val="1896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22960" y="4242816"/>
              <a:ext cx="36576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Aptos"/>
                </a:rPr>
                <a:t>✓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371600" y="4206240"/>
              <a:ext cx="466344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0">
                  <a:solidFill>
                    <a:srgbClr val="232E3D"/>
                  </a:solidFill>
                  <a:latin typeface="Aptos"/>
                </a:rPr>
                <a:t>Dashboard with key stock and alert views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DA72D93-1BB5-D351-3644-AC98BA9E2A40}"/>
              </a:ext>
            </a:extLst>
          </p:cNvPr>
          <p:cNvGrpSpPr/>
          <p:nvPr/>
        </p:nvGrpSpPr>
        <p:grpSpPr>
          <a:xfrm>
            <a:off x="6355080" y="4206240"/>
            <a:ext cx="5212080" cy="384048"/>
            <a:chOff x="6355080" y="4206240"/>
            <a:chExt cx="5212080" cy="384048"/>
          </a:xfrm>
        </p:grpSpPr>
        <p:sp>
          <p:nvSpPr>
            <p:cNvPr id="25" name="Oval 24"/>
            <p:cNvSpPr/>
            <p:nvPr/>
          </p:nvSpPr>
          <p:spPr>
            <a:xfrm>
              <a:off x="6355080" y="4224528"/>
              <a:ext cx="365760" cy="365760"/>
            </a:xfrm>
            <a:prstGeom prst="ellipse">
              <a:avLst/>
            </a:prstGeom>
            <a:solidFill>
              <a:srgbClr val="189691"/>
            </a:solidFill>
            <a:ln>
              <a:solidFill>
                <a:srgbClr val="1896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355080" y="4242816"/>
              <a:ext cx="36576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Aptos"/>
                </a:rPr>
                <a:t>✓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903720" y="4206240"/>
              <a:ext cx="4663440" cy="3657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0">
                  <a:solidFill>
                    <a:srgbClr val="232E3D"/>
                  </a:solidFill>
                  <a:latin typeface="Aptos"/>
                </a:rPr>
                <a:t>Three roles: Admin, Manager, Viewer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C7D"/>
                </a:solidFill>
                <a:latin typeface="Aptos"/>
              </a:rPr>
              <a:t>ERIMS • Project Proposal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10528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C7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50"/>
                            </p:stCondLst>
                            <p:childTnLst>
                              <p:par>
                                <p:cTn id="3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250"/>
                            </p:stCondLst>
                            <p:childTnLst>
                              <p:par>
                                <p:cTn id="4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FBB277-B582-45C0-B86F-F0570FCFB27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3F7EA-1DE1-4B0F-9299-9A94634A924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C4671E-964A-4998-AA24-ADF25A378C1E}"/>
              </a:ext>
            </a:extLst>
          </p:cNvPr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A4A"/>
                </a:solidFill>
                <a:latin typeface="Aptos Display"/>
              </a:defRPr>
            </a:pPr>
            <a:r>
              <a:t>Target Users &amp; Roles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74E99-50EE-417E-BF3B-EEDC19366CBA}"/>
              </a:ext>
            </a:extLst>
          </p:cNvPr>
          <p:cNvSpPr txBox="1"/>
          <p:nvPr/>
        </p:nvSpPr>
        <p:spPr>
          <a:xfrm>
            <a:off x="9966960" y="438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091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9FCD9C-AF8E-48C3-AD4D-359529B4DEC5}"/>
              </a:ext>
            </a:extLst>
          </p:cNvPr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11487-F204-42C4-955B-3B3377621293}"/>
              </a:ext>
            </a:extLst>
          </p:cNvPr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</a:defRPr>
            </a:pPr>
            <a:r>
              <a:t>ERIMS | Project Proposal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7A28F8-2797-4222-AB8C-CDE233B9AFD4}"/>
              </a:ext>
            </a:extLst>
          </p:cNvPr>
          <p:cNvSpPr txBox="1"/>
          <p:nvPr/>
        </p:nvSpPr>
        <p:spPr>
          <a:xfrm>
            <a:off x="10881360" y="650138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A"/>
                </a:solidFill>
              </a:defRPr>
            </a:pPr>
            <a:r>
              <a:t>6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2B4E042-A835-89BA-C57A-CB6F11B5C722}"/>
              </a:ext>
            </a:extLst>
          </p:cNvPr>
          <p:cNvGrpSpPr/>
          <p:nvPr/>
        </p:nvGrpSpPr>
        <p:grpSpPr>
          <a:xfrm>
            <a:off x="777240" y="1234440"/>
            <a:ext cx="5029200" cy="1207008"/>
            <a:chOff x="777240" y="1234440"/>
            <a:chExt cx="5029200" cy="1207008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195C5E4-E27E-4F88-A3F0-0262E2114D4B}"/>
                </a:ext>
              </a:extLst>
            </p:cNvPr>
            <p:cNvSpPr/>
            <p:nvPr/>
          </p:nvSpPr>
          <p:spPr>
            <a:xfrm>
              <a:off x="777240" y="1234440"/>
              <a:ext cx="5029200" cy="12070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E4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315E281-0517-459C-8351-01A390406877}"/>
                </a:ext>
              </a:extLst>
            </p:cNvPr>
            <p:cNvSpPr/>
            <p:nvPr/>
          </p:nvSpPr>
          <p:spPr>
            <a:xfrm>
              <a:off x="777240" y="1234440"/>
              <a:ext cx="82296" cy="1207008"/>
            </a:xfrm>
            <a:prstGeom prst="rect">
              <a:avLst/>
            </a:prstGeom>
            <a:solidFill>
              <a:srgbClr val="142A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8B18623-9479-447F-B2E1-9AAD24185577}"/>
                </a:ext>
              </a:extLst>
            </p:cNvPr>
            <p:cNvSpPr txBox="1"/>
            <p:nvPr/>
          </p:nvSpPr>
          <p:spPr>
            <a:xfrm>
              <a:off x="1005840" y="1399032"/>
              <a:ext cx="46177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142A4A"/>
                  </a:solidFill>
                  <a:latin typeface="Aptos"/>
                </a:defRPr>
              </a:pPr>
              <a:r>
                <a:t>Administrator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A3DA037-C0CD-4207-A477-963C11D41D56}"/>
                </a:ext>
              </a:extLst>
            </p:cNvPr>
            <p:cNvSpPr txBox="1"/>
            <p:nvPr/>
          </p:nvSpPr>
          <p:spPr>
            <a:xfrm>
              <a:off x="1005840" y="1801368"/>
              <a:ext cx="4617720" cy="493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50" b="0">
                  <a:solidFill>
                    <a:srgbClr val="5F6C7A"/>
                  </a:solidFill>
                  <a:latin typeface="Aptos"/>
                </a:defRPr>
              </a:pPr>
              <a:r>
                <a:t>System configuration, users, permissions, and oversight.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DD91FA9-FCE7-7EC2-33D0-ECA7A33EE320}"/>
              </a:ext>
            </a:extLst>
          </p:cNvPr>
          <p:cNvGrpSpPr/>
          <p:nvPr/>
        </p:nvGrpSpPr>
        <p:grpSpPr>
          <a:xfrm>
            <a:off x="6263640" y="1234440"/>
            <a:ext cx="5029200" cy="1207008"/>
            <a:chOff x="6263640" y="1234440"/>
            <a:chExt cx="5029200" cy="1207008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AE6FFA5-86AC-4E99-A1C6-E1237DC86C95}"/>
                </a:ext>
              </a:extLst>
            </p:cNvPr>
            <p:cNvSpPr/>
            <p:nvPr/>
          </p:nvSpPr>
          <p:spPr>
            <a:xfrm>
              <a:off x="6263640" y="1234440"/>
              <a:ext cx="5029200" cy="12070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E4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B81CB3-3070-4EB2-87F5-492023C004D0}"/>
                </a:ext>
              </a:extLst>
            </p:cNvPr>
            <p:cNvSpPr/>
            <p:nvPr/>
          </p:nvSpPr>
          <p:spPr>
            <a:xfrm>
              <a:off x="6263640" y="1234440"/>
              <a:ext cx="82296" cy="1207008"/>
            </a:xfrm>
            <a:prstGeom prst="rect">
              <a:avLst/>
            </a:prstGeom>
            <a:solidFill>
              <a:srgbClr val="2665A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5B53FD-AA1B-46AD-958A-485015051B87}"/>
                </a:ext>
              </a:extLst>
            </p:cNvPr>
            <p:cNvSpPr txBox="1"/>
            <p:nvPr/>
          </p:nvSpPr>
          <p:spPr>
            <a:xfrm>
              <a:off x="6492240" y="1399032"/>
              <a:ext cx="46177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142A4A"/>
                  </a:solidFill>
                  <a:latin typeface="Aptos"/>
                </a:defRPr>
              </a:pPr>
              <a:r>
                <a:t>Inventory Manager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692777-AA17-437C-881F-3C16276C7D14}"/>
                </a:ext>
              </a:extLst>
            </p:cNvPr>
            <p:cNvSpPr txBox="1"/>
            <p:nvPr/>
          </p:nvSpPr>
          <p:spPr>
            <a:xfrm>
              <a:off x="6492240" y="1801368"/>
              <a:ext cx="4617720" cy="493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50" b="0">
                  <a:solidFill>
                    <a:srgbClr val="5F6C7A"/>
                  </a:solidFill>
                  <a:latin typeface="Aptos"/>
                </a:defRPr>
              </a:pPr>
              <a:r>
                <a:t>Supplies, stock, locations, transactions, and transfers.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443826F-70AF-17A4-3A7B-A6A7AD0A1EFA}"/>
              </a:ext>
            </a:extLst>
          </p:cNvPr>
          <p:cNvGrpSpPr/>
          <p:nvPr/>
        </p:nvGrpSpPr>
        <p:grpSpPr>
          <a:xfrm>
            <a:off x="777240" y="2743200"/>
            <a:ext cx="5029200" cy="1207008"/>
            <a:chOff x="777240" y="2743200"/>
            <a:chExt cx="5029200" cy="1207008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46302C7D-5611-4A69-AD40-4AACF5220F0B}"/>
                </a:ext>
              </a:extLst>
            </p:cNvPr>
            <p:cNvSpPr/>
            <p:nvPr/>
          </p:nvSpPr>
          <p:spPr>
            <a:xfrm>
              <a:off x="777240" y="2743200"/>
              <a:ext cx="5029200" cy="12070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E4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3F8223F-962C-425F-970C-ADE1A8988B2E}"/>
                </a:ext>
              </a:extLst>
            </p:cNvPr>
            <p:cNvSpPr/>
            <p:nvPr/>
          </p:nvSpPr>
          <p:spPr>
            <a:xfrm>
              <a:off x="777240" y="2743200"/>
              <a:ext cx="82296" cy="1207008"/>
            </a:xfrm>
            <a:prstGeom prst="rect">
              <a:avLst/>
            </a:prstGeom>
            <a:solidFill>
              <a:srgbClr val="C240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2C6ABE-F089-4EBD-945D-9E3B3FD1439C}"/>
                </a:ext>
              </a:extLst>
            </p:cNvPr>
            <p:cNvSpPr txBox="1"/>
            <p:nvPr/>
          </p:nvSpPr>
          <p:spPr>
            <a:xfrm>
              <a:off x="1005840" y="2907792"/>
              <a:ext cx="46177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142A4A"/>
                  </a:solidFill>
                  <a:latin typeface="Aptos"/>
                </a:defRPr>
              </a:pPr>
              <a:r>
                <a:t>Emergency Coordinator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8E0E37-F5B6-433D-97EE-1803585EF50F}"/>
                </a:ext>
              </a:extLst>
            </p:cNvPr>
            <p:cNvSpPr txBox="1"/>
            <p:nvPr/>
          </p:nvSpPr>
          <p:spPr>
            <a:xfrm>
              <a:off x="1005840" y="3310128"/>
              <a:ext cx="4617720" cy="493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50" b="0">
                  <a:solidFill>
                    <a:srgbClr val="5F6C7A"/>
                  </a:solidFill>
                  <a:latin typeface="Aptos"/>
                </a:defRPr>
              </a:pPr>
              <a:r>
                <a:t>Emergency events, requirements, readiness, and allocation.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09BA0F2-8FDF-D37F-FA39-1E1F9588EDFB}"/>
              </a:ext>
            </a:extLst>
          </p:cNvPr>
          <p:cNvGrpSpPr/>
          <p:nvPr/>
        </p:nvGrpSpPr>
        <p:grpSpPr>
          <a:xfrm>
            <a:off x="6263640" y="2743200"/>
            <a:ext cx="5029200" cy="1207008"/>
            <a:chOff x="6263640" y="2743200"/>
            <a:chExt cx="5029200" cy="1207008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A3E1F01D-1A32-4334-B5F3-6D4CA5E13E97}"/>
                </a:ext>
              </a:extLst>
            </p:cNvPr>
            <p:cNvSpPr/>
            <p:nvPr/>
          </p:nvSpPr>
          <p:spPr>
            <a:xfrm>
              <a:off x="6263640" y="2743200"/>
              <a:ext cx="5029200" cy="12070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E4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9A13628-8B5E-49BC-B12B-EFD69E363AC3}"/>
                </a:ext>
              </a:extLst>
            </p:cNvPr>
            <p:cNvSpPr/>
            <p:nvPr/>
          </p:nvSpPr>
          <p:spPr>
            <a:xfrm>
              <a:off x="6263640" y="2743200"/>
              <a:ext cx="82296" cy="1207008"/>
            </a:xfrm>
            <a:prstGeom prst="rect">
              <a:avLst/>
            </a:prstGeom>
            <a:solidFill>
              <a:srgbClr val="2091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59BEEA5-742F-417D-97A3-4022D3473CFA}"/>
                </a:ext>
              </a:extLst>
            </p:cNvPr>
            <p:cNvSpPr txBox="1"/>
            <p:nvPr/>
          </p:nvSpPr>
          <p:spPr>
            <a:xfrm>
              <a:off x="6492240" y="2907792"/>
              <a:ext cx="46177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142A4A"/>
                  </a:solidFill>
                  <a:latin typeface="Aptos"/>
                </a:defRPr>
              </a:pPr>
              <a:r>
                <a:t>Logistics Officer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76C3656-97A7-4AFB-8A59-C4A4CE7C5597}"/>
                </a:ext>
              </a:extLst>
            </p:cNvPr>
            <p:cNvSpPr txBox="1"/>
            <p:nvPr/>
          </p:nvSpPr>
          <p:spPr>
            <a:xfrm>
              <a:off x="6492240" y="3310128"/>
              <a:ext cx="4617720" cy="493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50" b="0">
                  <a:solidFill>
                    <a:srgbClr val="5F6C7A"/>
                  </a:solidFill>
                  <a:latin typeface="Aptos"/>
                </a:defRPr>
              </a:pPr>
              <a:r>
                <a:t>Transfers, dispatch, and distribution records.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CE093D3-7D99-488E-743C-95423043D624}"/>
              </a:ext>
            </a:extLst>
          </p:cNvPr>
          <p:cNvGrpSpPr/>
          <p:nvPr/>
        </p:nvGrpSpPr>
        <p:grpSpPr>
          <a:xfrm>
            <a:off x="777240" y="4251960"/>
            <a:ext cx="5029200" cy="1207008"/>
            <a:chOff x="777240" y="4251960"/>
            <a:chExt cx="5029200" cy="1207008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4EF30493-903C-48A4-B5F2-18C5A2F70285}"/>
                </a:ext>
              </a:extLst>
            </p:cNvPr>
            <p:cNvSpPr/>
            <p:nvPr/>
          </p:nvSpPr>
          <p:spPr>
            <a:xfrm>
              <a:off x="777240" y="4251960"/>
              <a:ext cx="5029200" cy="12070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E4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29DA49B-9683-4344-8218-2A0FA9B55D76}"/>
                </a:ext>
              </a:extLst>
            </p:cNvPr>
            <p:cNvSpPr/>
            <p:nvPr/>
          </p:nvSpPr>
          <p:spPr>
            <a:xfrm>
              <a:off x="777240" y="4251960"/>
              <a:ext cx="82296" cy="1207008"/>
            </a:xfrm>
            <a:prstGeom prst="rect">
              <a:avLst/>
            </a:prstGeom>
            <a:solidFill>
              <a:srgbClr val="E3853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010C684-FB09-4CE3-ABEB-E967BC3AF7F5}"/>
                </a:ext>
              </a:extLst>
            </p:cNvPr>
            <p:cNvSpPr txBox="1"/>
            <p:nvPr/>
          </p:nvSpPr>
          <p:spPr>
            <a:xfrm>
              <a:off x="1005840" y="4416552"/>
              <a:ext cx="46177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142A4A"/>
                  </a:solidFill>
                  <a:latin typeface="Aptos"/>
                </a:defRPr>
              </a:pPr>
              <a:r>
                <a:t>Procurement Officer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3DB13E9-EEDE-42DF-AB15-ED07513006C9}"/>
                </a:ext>
              </a:extLst>
            </p:cNvPr>
            <p:cNvSpPr txBox="1"/>
            <p:nvPr/>
          </p:nvSpPr>
          <p:spPr>
            <a:xfrm>
              <a:off x="1005840" y="4818888"/>
              <a:ext cx="4617720" cy="493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50" b="0">
                  <a:solidFill>
                    <a:srgbClr val="5F6C7A"/>
                  </a:solidFill>
                  <a:latin typeface="Aptos"/>
                </a:defRPr>
              </a:pPr>
              <a:r>
                <a:t>Suppliers, purchase orders, and receiving.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EC205A5-05EB-DA9F-B710-047B1A12ABF0}"/>
              </a:ext>
            </a:extLst>
          </p:cNvPr>
          <p:cNvGrpSpPr/>
          <p:nvPr/>
        </p:nvGrpSpPr>
        <p:grpSpPr>
          <a:xfrm>
            <a:off x="6263640" y="4251960"/>
            <a:ext cx="5029200" cy="1207008"/>
            <a:chOff x="6263640" y="4251960"/>
            <a:chExt cx="5029200" cy="1207008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ADEF8037-9BD0-46C7-AD5F-F7EEA8E4C17C}"/>
                </a:ext>
              </a:extLst>
            </p:cNvPr>
            <p:cNvSpPr/>
            <p:nvPr/>
          </p:nvSpPr>
          <p:spPr>
            <a:xfrm>
              <a:off x="6263640" y="4251960"/>
              <a:ext cx="5029200" cy="12070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AE4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D125EA0-6725-4D16-8C63-3F48E909DF34}"/>
                </a:ext>
              </a:extLst>
            </p:cNvPr>
            <p:cNvSpPr/>
            <p:nvPr/>
          </p:nvSpPr>
          <p:spPr>
            <a:xfrm>
              <a:off x="6263640" y="4251960"/>
              <a:ext cx="82296" cy="1207008"/>
            </a:xfrm>
            <a:prstGeom prst="rect">
              <a:avLst/>
            </a:prstGeom>
            <a:solidFill>
              <a:srgbClr val="378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E2BD5D3-505F-4AF1-9143-207904C76746}"/>
                </a:ext>
              </a:extLst>
            </p:cNvPr>
            <p:cNvSpPr txBox="1"/>
            <p:nvPr/>
          </p:nvSpPr>
          <p:spPr>
            <a:xfrm>
              <a:off x="6492240" y="4416552"/>
              <a:ext cx="46177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142A4A"/>
                  </a:solidFill>
                  <a:latin typeface="Aptos"/>
                </a:defRPr>
              </a:pPr>
              <a:r>
                <a:t>Analyst / Viewer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0E29329-A615-487E-B5B4-383E455F30A1}"/>
                </a:ext>
              </a:extLst>
            </p:cNvPr>
            <p:cNvSpPr txBox="1"/>
            <p:nvPr/>
          </p:nvSpPr>
          <p:spPr>
            <a:xfrm>
              <a:off x="6492240" y="4818888"/>
              <a:ext cx="4617720" cy="493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50" b="0">
                  <a:solidFill>
                    <a:srgbClr val="5F6C7A"/>
                  </a:solidFill>
                  <a:latin typeface="Aptos"/>
                </a:defRPr>
              </a:pPr>
              <a:r>
                <a:t>Dashboards, reports, and monitoring.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753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33E"/>
                </a:solidFill>
                <a:latin typeface="Aptos"/>
              </a:rPr>
              <a:t>Modules: MVP and Stretch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C6C7D"/>
                </a:solidFill>
                <a:latin typeface="Aptos"/>
              </a:rPr>
              <a:t>Six modules form the MVP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DC877EF-F24D-5A09-164D-556B697F7356}"/>
              </a:ext>
            </a:extLst>
          </p:cNvPr>
          <p:cNvGrpSpPr/>
          <p:nvPr/>
        </p:nvGrpSpPr>
        <p:grpSpPr>
          <a:xfrm>
            <a:off x="731520" y="1325880"/>
            <a:ext cx="10835640" cy="3246120"/>
            <a:chOff x="731520" y="1325880"/>
            <a:chExt cx="10835640" cy="3246120"/>
          </a:xfrm>
        </p:grpSpPr>
        <p:sp>
          <p:nvSpPr>
            <p:cNvPr id="4" name="Rounded Rectangle 3"/>
            <p:cNvSpPr/>
            <p:nvPr/>
          </p:nvSpPr>
          <p:spPr>
            <a:xfrm>
              <a:off x="731520" y="1325880"/>
              <a:ext cx="2468880" cy="13258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731520" y="1325880"/>
              <a:ext cx="2468880" cy="82296"/>
            </a:xfrm>
            <a:prstGeom prst="rect">
              <a:avLst/>
            </a:prstGeom>
            <a:solidFill>
              <a:srgbClr val="226CB4"/>
            </a:solidFill>
            <a:ln>
              <a:solidFill>
                <a:srgbClr val="226C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96112" y="1581912"/>
              <a:ext cx="214884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500" b="1" dirty="0">
                  <a:solidFill>
                    <a:srgbClr val="0F233E"/>
                  </a:solidFill>
                  <a:latin typeface="Aptos"/>
                </a:rPr>
                <a:t>Dashboard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96112" y="2039112"/>
              <a:ext cx="2148840" cy="2616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1100" dirty="0">
                  <a:solidFill>
                    <a:srgbClr val="5C6C7D"/>
                  </a:solidFill>
                  <a:latin typeface="Aptos"/>
                </a:rPr>
                <a:t>Alerts and key charts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520439" y="1325880"/>
              <a:ext cx="2468880" cy="13258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3520439" y="1325880"/>
              <a:ext cx="2468880" cy="82296"/>
            </a:xfrm>
            <a:prstGeom prst="rect">
              <a:avLst/>
            </a:prstGeom>
            <a:solidFill>
              <a:srgbClr val="189691"/>
            </a:solidFill>
            <a:ln>
              <a:solidFill>
                <a:srgbClr val="1896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85031" y="1581912"/>
              <a:ext cx="214884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500" b="1">
                  <a:solidFill>
                    <a:srgbClr val="0F233E"/>
                  </a:solidFill>
                  <a:latin typeface="Aptos"/>
                </a:rPr>
                <a:t>Inventory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85031" y="2039112"/>
              <a:ext cx="214884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100" b="0">
                  <a:solidFill>
                    <a:srgbClr val="5C6C7D"/>
                  </a:solidFill>
                  <a:latin typeface="Aptos"/>
                </a:rPr>
                <a:t>Supplies, stock, expiry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309359" y="1325880"/>
              <a:ext cx="2468880" cy="13258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09359" y="1325880"/>
              <a:ext cx="2468880" cy="82296"/>
            </a:xfrm>
            <a:prstGeom prst="rect">
              <a:avLst/>
            </a:prstGeom>
            <a:solidFill>
              <a:srgbClr val="349969"/>
            </a:solidFill>
            <a:ln>
              <a:solidFill>
                <a:srgbClr val="34996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73951" y="1581912"/>
              <a:ext cx="214884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500" b="1">
                  <a:solidFill>
                    <a:srgbClr val="0F233E"/>
                  </a:solidFill>
                  <a:latin typeface="Aptos"/>
                </a:rPr>
                <a:t>Locations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73951" y="2039112"/>
              <a:ext cx="214884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100" b="0">
                  <a:solidFill>
                    <a:srgbClr val="5C6C7D"/>
                  </a:solidFill>
                  <a:latin typeface="Aptos"/>
                </a:rPr>
                <a:t>Warehouses and depots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098280" y="1325880"/>
              <a:ext cx="2468880" cy="13258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098280" y="1325880"/>
              <a:ext cx="2468880" cy="82296"/>
            </a:xfrm>
            <a:prstGeom prst="rect">
              <a:avLst/>
            </a:prstGeom>
            <a:solidFill>
              <a:srgbClr val="E88E36"/>
            </a:solidFill>
            <a:ln>
              <a:solidFill>
                <a:srgbClr val="E88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262872" y="1581912"/>
              <a:ext cx="2148840" cy="3231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F233E"/>
                  </a:solidFill>
                  <a:latin typeface="Aptos"/>
                </a:rPr>
                <a:t>Delivered Item</a:t>
              </a:r>
              <a:endParaRPr sz="1500" b="1" dirty="0">
                <a:solidFill>
                  <a:srgbClr val="0F233E"/>
                </a:solidFill>
                <a:latin typeface="Aptos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262872" y="2039112"/>
              <a:ext cx="214884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100" b="0">
                  <a:solidFill>
                    <a:srgbClr val="5C6C7D"/>
                  </a:solidFill>
                  <a:latin typeface="Aptos"/>
                </a:rPr>
                <a:t>Receive, dispatch, transfer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31520" y="3246120"/>
              <a:ext cx="2468880" cy="13258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31520" y="3246120"/>
              <a:ext cx="2468880" cy="82296"/>
            </a:xfrm>
            <a:prstGeom prst="rect">
              <a:avLst/>
            </a:prstGeom>
            <a:solidFill>
              <a:srgbClr val="CC4C4C"/>
            </a:solidFill>
            <a:ln>
              <a:solidFill>
                <a:srgbClr val="CC4C4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96112" y="3502152"/>
              <a:ext cx="214884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500" b="1">
                  <a:solidFill>
                    <a:srgbClr val="0F233E"/>
                  </a:solidFill>
                  <a:latin typeface="Aptos"/>
                </a:rPr>
                <a:t>Emergencies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96112" y="3959352"/>
              <a:ext cx="214884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100" b="0">
                  <a:solidFill>
                    <a:srgbClr val="5C6C7D"/>
                  </a:solidFill>
                  <a:latin typeface="Aptos"/>
                </a:rPr>
                <a:t>Events and requirements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520439" y="3246120"/>
              <a:ext cx="2468880" cy="13258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520439" y="3246120"/>
              <a:ext cx="2468880" cy="82296"/>
            </a:xfrm>
            <a:prstGeom prst="rect">
              <a:avLst/>
            </a:prstGeom>
            <a:solidFill>
              <a:srgbClr val="4CBECD"/>
            </a:solidFill>
            <a:ln>
              <a:solidFill>
                <a:srgbClr val="4CBE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685031" y="3502152"/>
              <a:ext cx="2148840" cy="228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500" b="1">
                  <a:solidFill>
                    <a:srgbClr val="0F233E"/>
                  </a:solidFill>
                  <a:latin typeface="Aptos"/>
                </a:rPr>
                <a:t>Readiness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685031" y="3959352"/>
              <a:ext cx="214884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100" b="0">
                  <a:solidFill>
                    <a:srgbClr val="5C6C7D"/>
                  </a:solidFill>
                  <a:latin typeface="Aptos"/>
                </a:rPr>
                <a:t>Shortages and transfer plan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C7D"/>
                </a:solidFill>
                <a:latin typeface="Aptos"/>
              </a:rPr>
              <a:t>ERIMS • Project Proposal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510528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C7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33E"/>
                </a:solidFill>
                <a:latin typeface="Aptos"/>
              </a:rPr>
              <a:t>Emergency Resource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C7D"/>
                </a:solidFill>
                <a:latin typeface="Aptos"/>
              </a:rPr>
              <a:t>Compare required resources with available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C6C7D"/>
                </a:solidFill>
                <a:latin typeface="Aptos"/>
              </a:rPr>
              <a:t>Example: resource readiness for a hypothetical cyclone response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E23F83D-4DEF-A891-6856-6D50CFCFFB02}"/>
              </a:ext>
            </a:extLst>
          </p:cNvPr>
          <p:cNvGrpSpPr/>
          <p:nvPr/>
        </p:nvGrpSpPr>
        <p:grpSpPr>
          <a:xfrm>
            <a:off x="822960" y="1645920"/>
            <a:ext cx="9418320" cy="3209544"/>
            <a:chOff x="822960" y="1645920"/>
            <a:chExt cx="9418320" cy="3209544"/>
          </a:xfrm>
        </p:grpSpPr>
        <p:sp>
          <p:nvSpPr>
            <p:cNvPr id="5" name="Rectangle 4"/>
            <p:cNvSpPr/>
            <p:nvPr/>
          </p:nvSpPr>
          <p:spPr>
            <a:xfrm>
              <a:off x="822960" y="1645920"/>
              <a:ext cx="3657600" cy="502920"/>
            </a:xfrm>
            <a:prstGeom prst="rect">
              <a:avLst/>
            </a:prstGeom>
            <a:solidFill>
              <a:srgbClr val="0F233E"/>
            </a:solidFill>
            <a:ln>
              <a:solidFill>
                <a:srgbClr val="0F23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1783080"/>
              <a:ext cx="36576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Aptos"/>
                </a:rPr>
                <a:t>Resource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480560" y="1645920"/>
              <a:ext cx="1828800" cy="502920"/>
            </a:xfrm>
            <a:prstGeom prst="rect">
              <a:avLst/>
            </a:prstGeom>
            <a:solidFill>
              <a:srgbClr val="0F233E"/>
            </a:solidFill>
            <a:ln>
              <a:solidFill>
                <a:srgbClr val="0F23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80560" y="1783080"/>
              <a:ext cx="18288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Aptos"/>
                </a:rPr>
                <a:t>Required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309360" y="1645920"/>
              <a:ext cx="1828800" cy="502920"/>
            </a:xfrm>
            <a:prstGeom prst="rect">
              <a:avLst/>
            </a:prstGeom>
            <a:solidFill>
              <a:srgbClr val="0F233E"/>
            </a:solidFill>
            <a:ln>
              <a:solidFill>
                <a:srgbClr val="0F23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09360" y="1783080"/>
              <a:ext cx="18288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Aptos"/>
                </a:rPr>
                <a:t>Available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138160" y="1645920"/>
              <a:ext cx="2103120" cy="502920"/>
            </a:xfrm>
            <a:prstGeom prst="rect">
              <a:avLst/>
            </a:prstGeom>
            <a:solidFill>
              <a:srgbClr val="0F233E"/>
            </a:solidFill>
            <a:ln>
              <a:solidFill>
                <a:srgbClr val="0F23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38160" y="1783080"/>
              <a:ext cx="210312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Aptos"/>
                </a:rPr>
                <a:t>Status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22960" y="2176272"/>
              <a:ext cx="3657600" cy="62179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22960" y="2359152"/>
              <a:ext cx="36576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0">
                  <a:solidFill>
                    <a:srgbClr val="232E3D"/>
                  </a:solidFill>
                  <a:latin typeface="Aptos"/>
                </a:rPr>
                <a:t>Water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480560" y="2176272"/>
              <a:ext cx="1828800" cy="62179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80560" y="2359152"/>
              <a:ext cx="18288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0">
                  <a:solidFill>
                    <a:srgbClr val="232E3D"/>
                  </a:solidFill>
                  <a:latin typeface="Aptos"/>
                </a:rPr>
                <a:t>10,000 L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309360" y="2176272"/>
              <a:ext cx="1828800" cy="62179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309360" y="2359152"/>
              <a:ext cx="18288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0">
                  <a:solidFill>
                    <a:srgbClr val="232E3D"/>
                  </a:solidFill>
                  <a:latin typeface="Aptos"/>
                </a:rPr>
                <a:t>7,500 L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138160" y="2176272"/>
              <a:ext cx="2103120" cy="62179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38160" y="2359152"/>
              <a:ext cx="210312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>
                  <a:solidFill>
                    <a:srgbClr val="CC4C4C"/>
                  </a:solidFill>
                  <a:latin typeface="Aptos"/>
                </a:rPr>
                <a:t>Shortage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22960" y="2862072"/>
              <a:ext cx="3657600" cy="621792"/>
            </a:xfrm>
            <a:prstGeom prst="rect">
              <a:avLst/>
            </a:prstGeom>
            <a:solidFill>
              <a:srgbClr val="EFF4F8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22960" y="3044952"/>
              <a:ext cx="36576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0">
                  <a:solidFill>
                    <a:srgbClr val="232E3D"/>
                  </a:solidFill>
                  <a:latin typeface="Aptos"/>
                </a:rPr>
                <a:t>Rice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480560" y="2862072"/>
              <a:ext cx="1828800" cy="621792"/>
            </a:xfrm>
            <a:prstGeom prst="rect">
              <a:avLst/>
            </a:prstGeom>
            <a:solidFill>
              <a:srgbClr val="EFF4F8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480560" y="3044952"/>
              <a:ext cx="18288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0">
                  <a:solidFill>
                    <a:srgbClr val="232E3D"/>
                  </a:solidFill>
                  <a:latin typeface="Aptos"/>
                </a:rPr>
                <a:t>5,000 kg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309360" y="2862072"/>
              <a:ext cx="1828800" cy="621792"/>
            </a:xfrm>
            <a:prstGeom prst="rect">
              <a:avLst/>
            </a:prstGeom>
            <a:solidFill>
              <a:srgbClr val="EFF4F8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309360" y="3044952"/>
              <a:ext cx="18288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0">
                  <a:solidFill>
                    <a:srgbClr val="232E3D"/>
                  </a:solidFill>
                  <a:latin typeface="Aptos"/>
                </a:rPr>
                <a:t>5,500 kg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138160" y="2862072"/>
              <a:ext cx="2103120" cy="621792"/>
            </a:xfrm>
            <a:prstGeom prst="rect">
              <a:avLst/>
            </a:prstGeom>
            <a:solidFill>
              <a:srgbClr val="EFF4F8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138160" y="3044952"/>
              <a:ext cx="210312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>
                  <a:solidFill>
                    <a:srgbClr val="349969"/>
                  </a:solidFill>
                  <a:latin typeface="Aptos"/>
                </a:rPr>
                <a:t>Ready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22960" y="3547872"/>
              <a:ext cx="3657600" cy="62179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22960" y="3730752"/>
              <a:ext cx="36576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0">
                  <a:solidFill>
                    <a:srgbClr val="232E3D"/>
                  </a:solidFill>
                  <a:latin typeface="Aptos"/>
                </a:rPr>
                <a:t>Medical Kits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480560" y="3547872"/>
              <a:ext cx="1828800" cy="62179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480560" y="3730752"/>
              <a:ext cx="18288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0">
                  <a:solidFill>
                    <a:srgbClr val="232E3D"/>
                  </a:solidFill>
                  <a:latin typeface="Aptos"/>
                </a:rPr>
                <a:t>500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309360" y="3547872"/>
              <a:ext cx="1828800" cy="62179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09360" y="3730752"/>
              <a:ext cx="18288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0">
                  <a:solidFill>
                    <a:srgbClr val="232E3D"/>
                  </a:solidFill>
                  <a:latin typeface="Aptos"/>
                </a:rPr>
                <a:t>320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138160" y="3547872"/>
              <a:ext cx="2103120" cy="62179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138160" y="3730752"/>
              <a:ext cx="210312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>
                  <a:solidFill>
                    <a:srgbClr val="CC4C4C"/>
                  </a:solidFill>
                  <a:latin typeface="Aptos"/>
                </a:rPr>
                <a:t>Shortage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22960" y="4233672"/>
              <a:ext cx="3657600" cy="621792"/>
            </a:xfrm>
            <a:prstGeom prst="rect">
              <a:avLst/>
            </a:prstGeom>
            <a:solidFill>
              <a:srgbClr val="EFF4F8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22960" y="4416552"/>
              <a:ext cx="36576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0">
                  <a:solidFill>
                    <a:srgbClr val="232E3D"/>
                  </a:solidFill>
                  <a:latin typeface="Aptos"/>
                </a:rPr>
                <a:t>Blankets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480560" y="4233672"/>
              <a:ext cx="1828800" cy="621792"/>
            </a:xfrm>
            <a:prstGeom prst="rect">
              <a:avLst/>
            </a:prstGeom>
            <a:solidFill>
              <a:srgbClr val="EFF4F8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480560" y="4416552"/>
              <a:ext cx="18288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0">
                  <a:solidFill>
                    <a:srgbClr val="232E3D"/>
                  </a:solidFill>
                  <a:latin typeface="Aptos"/>
                </a:rPr>
                <a:t>800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309360" y="4233672"/>
              <a:ext cx="1828800" cy="621792"/>
            </a:xfrm>
            <a:prstGeom prst="rect">
              <a:avLst/>
            </a:prstGeom>
            <a:solidFill>
              <a:srgbClr val="EFF4F8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309360" y="4416552"/>
              <a:ext cx="182880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0">
                  <a:solidFill>
                    <a:srgbClr val="232E3D"/>
                  </a:solidFill>
                  <a:latin typeface="Aptos"/>
                </a:rPr>
                <a:t>900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138160" y="4233672"/>
              <a:ext cx="2103120" cy="621792"/>
            </a:xfrm>
            <a:prstGeom prst="rect">
              <a:avLst/>
            </a:prstGeom>
            <a:solidFill>
              <a:srgbClr val="EFF4F8"/>
            </a:solidFill>
            <a:ln>
              <a:solidFill>
                <a:srgbClr val="E2EB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138160" y="4416552"/>
              <a:ext cx="210312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>
                  <a:solidFill>
                    <a:srgbClr val="349969"/>
                  </a:solidFill>
                  <a:latin typeface="Aptos"/>
                </a:rPr>
                <a:t>Ready</a:t>
              </a:r>
            </a:p>
          </p:txBody>
        </p:sp>
      </p:grpSp>
      <p:sp>
        <p:nvSpPr>
          <p:cNvPr id="45" name="Rounded Rectangle 44"/>
          <p:cNvSpPr/>
          <p:nvPr/>
        </p:nvSpPr>
        <p:spPr>
          <a:xfrm>
            <a:off x="914400" y="5074920"/>
            <a:ext cx="9966960" cy="777240"/>
          </a:xfrm>
          <a:prstGeom prst="roundRect">
            <a:avLst/>
          </a:prstGeom>
          <a:solidFill>
            <a:srgbClr val="E7F1F8"/>
          </a:solidFill>
          <a:ln>
            <a:solidFill>
              <a:srgbClr val="BE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43000" y="5330952"/>
            <a:ext cx="9509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33E"/>
                </a:solidFill>
                <a:latin typeface="Aptos"/>
              </a:rPr>
              <a:t>The readiness view highlights shortages that may require procurement, transfers, or reallocation.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C7D"/>
                </a:solidFill>
                <a:latin typeface="Aptos"/>
              </a:rPr>
              <a:t>ERIMS • Project Proposal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01400" y="6510528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C7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33E"/>
                </a:solidFill>
                <a:latin typeface="Aptos"/>
              </a:rPr>
              <a:t>Database Design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C7D"/>
                </a:solidFill>
                <a:latin typeface="Aptos"/>
              </a:rPr>
              <a:t>Core entities and relationships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38FDB08-B025-C772-6044-4AB82C0A945F}"/>
              </a:ext>
            </a:extLst>
          </p:cNvPr>
          <p:cNvGrpSpPr/>
          <p:nvPr/>
        </p:nvGrpSpPr>
        <p:grpSpPr>
          <a:xfrm>
            <a:off x="731520" y="4343400"/>
            <a:ext cx="2423160" cy="685800"/>
            <a:chOff x="731520" y="4343400"/>
            <a:chExt cx="2423160" cy="685800"/>
          </a:xfrm>
        </p:grpSpPr>
        <p:sp>
          <p:nvSpPr>
            <p:cNvPr id="16" name="Rounded Rectangle 15"/>
            <p:cNvSpPr/>
            <p:nvPr/>
          </p:nvSpPr>
          <p:spPr>
            <a:xfrm>
              <a:off x="731520" y="4343400"/>
              <a:ext cx="2423160" cy="685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4CBE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" y="4343400"/>
              <a:ext cx="2423160" cy="73152"/>
            </a:xfrm>
            <a:prstGeom prst="rect">
              <a:avLst/>
            </a:prstGeom>
            <a:solidFill>
              <a:srgbClr val="4CBECD"/>
            </a:solidFill>
            <a:ln>
              <a:solidFill>
                <a:srgbClr val="4CBE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1520" y="4590288"/>
              <a:ext cx="242316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>
                  <a:solidFill>
                    <a:srgbClr val="0F233E"/>
                  </a:solidFill>
                  <a:latin typeface="Aptos"/>
                </a:rPr>
                <a:t>Suppliers / Orders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B012588-C8B7-CC98-EE87-DF32553A79F0}"/>
              </a:ext>
            </a:extLst>
          </p:cNvPr>
          <p:cNvGrpSpPr/>
          <p:nvPr/>
        </p:nvGrpSpPr>
        <p:grpSpPr>
          <a:xfrm>
            <a:off x="6949440" y="4343400"/>
            <a:ext cx="2423160" cy="685800"/>
            <a:chOff x="6949440" y="4343400"/>
            <a:chExt cx="2423160" cy="685800"/>
          </a:xfrm>
        </p:grpSpPr>
        <p:sp>
          <p:nvSpPr>
            <p:cNvPr id="22" name="Rounded Rectangle 21"/>
            <p:cNvSpPr/>
            <p:nvPr/>
          </p:nvSpPr>
          <p:spPr>
            <a:xfrm>
              <a:off x="6949440" y="4343400"/>
              <a:ext cx="2423160" cy="685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0F23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949440" y="4343400"/>
              <a:ext cx="2423160" cy="73152"/>
            </a:xfrm>
            <a:prstGeom prst="rect">
              <a:avLst/>
            </a:prstGeom>
            <a:solidFill>
              <a:srgbClr val="0F233E"/>
            </a:solidFill>
            <a:ln>
              <a:solidFill>
                <a:srgbClr val="0F23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949440" y="4590288"/>
              <a:ext cx="242316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>
                  <a:solidFill>
                    <a:srgbClr val="0F233E"/>
                  </a:solidFill>
                  <a:latin typeface="Aptos"/>
                </a:rPr>
                <a:t>Distributions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44DDB69-B53C-CCB6-986F-4343FB7295BE}"/>
              </a:ext>
            </a:extLst>
          </p:cNvPr>
          <p:cNvGrpSpPr/>
          <p:nvPr/>
        </p:nvGrpSpPr>
        <p:grpSpPr>
          <a:xfrm>
            <a:off x="731520" y="1325880"/>
            <a:ext cx="3063240" cy="685800"/>
            <a:chOff x="731520" y="1325880"/>
            <a:chExt cx="3063240" cy="685800"/>
          </a:xfrm>
        </p:grpSpPr>
        <p:sp>
          <p:nvSpPr>
            <p:cNvPr id="4" name="Rounded Rectangle 3"/>
            <p:cNvSpPr/>
            <p:nvPr/>
          </p:nvSpPr>
          <p:spPr>
            <a:xfrm>
              <a:off x="731520" y="1325880"/>
              <a:ext cx="2423160" cy="685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226C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/>
            <p:cNvSpPr/>
            <p:nvPr/>
          </p:nvSpPr>
          <p:spPr>
            <a:xfrm>
              <a:off x="731520" y="1325880"/>
              <a:ext cx="2423160" cy="73152"/>
            </a:xfrm>
            <a:prstGeom prst="rect">
              <a:avLst/>
            </a:prstGeom>
            <a:solidFill>
              <a:srgbClr val="226CB4"/>
            </a:solidFill>
            <a:ln>
              <a:solidFill>
                <a:srgbClr val="226C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31520" y="1572768"/>
              <a:ext cx="242316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 dirty="0">
                  <a:solidFill>
                    <a:srgbClr val="0F233E"/>
                  </a:solidFill>
                  <a:latin typeface="Aptos"/>
                </a:rPr>
                <a:t>Users / Roles</a:t>
              </a: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3154680" y="1664208"/>
              <a:ext cx="640080" cy="0"/>
            </a:xfrm>
            <a:prstGeom prst="line">
              <a:avLst/>
            </a:prstGeom>
            <a:ln w="19050">
              <a:solidFill>
                <a:srgbClr val="5C6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C804BA8-7B02-F760-B003-53B549D2A514}"/>
              </a:ext>
            </a:extLst>
          </p:cNvPr>
          <p:cNvGrpSpPr/>
          <p:nvPr/>
        </p:nvGrpSpPr>
        <p:grpSpPr>
          <a:xfrm>
            <a:off x="3840480" y="1325880"/>
            <a:ext cx="3063240" cy="1463040"/>
            <a:chOff x="3840480" y="1325880"/>
            <a:chExt cx="3063240" cy="146304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81A2D21-8C0A-5FD0-AE64-F6E9F442E3EC}"/>
                </a:ext>
              </a:extLst>
            </p:cNvPr>
            <p:cNvGrpSpPr/>
            <p:nvPr/>
          </p:nvGrpSpPr>
          <p:grpSpPr>
            <a:xfrm>
              <a:off x="3840480" y="1325880"/>
              <a:ext cx="3063240" cy="685800"/>
              <a:chOff x="3840480" y="1325880"/>
              <a:chExt cx="3063240" cy="685800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3840480" y="1325880"/>
                <a:ext cx="2423160" cy="68580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1896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3840480" y="1325880"/>
                <a:ext cx="2423160" cy="73152"/>
              </a:xfrm>
              <a:prstGeom prst="rect">
                <a:avLst/>
              </a:prstGeom>
              <a:solidFill>
                <a:srgbClr val="189691"/>
              </a:solidFill>
              <a:ln>
                <a:solidFill>
                  <a:srgbClr val="18969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3840480" y="1572768"/>
                <a:ext cx="2423160" cy="18288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300" b="1" dirty="0">
                    <a:solidFill>
                      <a:srgbClr val="0F233E"/>
                    </a:solidFill>
                    <a:latin typeface="Aptos"/>
                  </a:rPr>
                  <a:t>Supplies</a:t>
                </a:r>
              </a:p>
            </p:txBody>
          </p:sp>
          <p:cxnSp>
            <p:nvCxnSpPr>
              <p:cNvPr id="29" name="Connector 28"/>
              <p:cNvCxnSpPr/>
              <p:nvPr/>
            </p:nvCxnSpPr>
            <p:spPr>
              <a:xfrm>
                <a:off x="6263640" y="1664208"/>
                <a:ext cx="640080" cy="0"/>
              </a:xfrm>
              <a:prstGeom prst="line">
                <a:avLst/>
              </a:prstGeom>
              <a:ln w="19050">
                <a:solidFill>
                  <a:srgbClr val="5C6C7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Connector 29"/>
            <p:cNvCxnSpPr/>
            <p:nvPr/>
          </p:nvCxnSpPr>
          <p:spPr>
            <a:xfrm>
              <a:off x="5074920" y="2057400"/>
              <a:ext cx="0" cy="731520"/>
            </a:xfrm>
            <a:prstGeom prst="line">
              <a:avLst/>
            </a:prstGeom>
            <a:ln w="19050">
              <a:solidFill>
                <a:srgbClr val="5C6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E518C09-B256-7536-202E-C5DF81C4641A}"/>
              </a:ext>
            </a:extLst>
          </p:cNvPr>
          <p:cNvGrpSpPr/>
          <p:nvPr/>
        </p:nvGrpSpPr>
        <p:grpSpPr>
          <a:xfrm>
            <a:off x="6949440" y="1325880"/>
            <a:ext cx="2423160" cy="1463040"/>
            <a:chOff x="6949440" y="1325880"/>
            <a:chExt cx="2423160" cy="1463040"/>
          </a:xfrm>
        </p:grpSpPr>
        <p:sp>
          <p:nvSpPr>
            <p:cNvPr id="10" name="Rounded Rectangle 9"/>
            <p:cNvSpPr/>
            <p:nvPr/>
          </p:nvSpPr>
          <p:spPr>
            <a:xfrm>
              <a:off x="6949440" y="1325880"/>
              <a:ext cx="2423160" cy="685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34996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949440" y="1325880"/>
              <a:ext cx="2423160" cy="73152"/>
            </a:xfrm>
            <a:prstGeom prst="rect">
              <a:avLst/>
            </a:prstGeom>
            <a:solidFill>
              <a:srgbClr val="349969"/>
            </a:solidFill>
            <a:ln>
              <a:solidFill>
                <a:srgbClr val="34996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949440" y="1572768"/>
              <a:ext cx="242316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>
                  <a:solidFill>
                    <a:srgbClr val="0F233E"/>
                  </a:solidFill>
                  <a:latin typeface="Aptos"/>
                </a:rPr>
                <a:t>Locations</a:t>
              </a:r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8138160" y="2057400"/>
              <a:ext cx="0" cy="731520"/>
            </a:xfrm>
            <a:prstGeom prst="line">
              <a:avLst/>
            </a:prstGeom>
            <a:ln w="19050">
              <a:solidFill>
                <a:srgbClr val="5C6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951CF41-E762-B275-B338-55AD570B29BE}"/>
              </a:ext>
            </a:extLst>
          </p:cNvPr>
          <p:cNvGrpSpPr/>
          <p:nvPr/>
        </p:nvGrpSpPr>
        <p:grpSpPr>
          <a:xfrm>
            <a:off x="3840480" y="2834640"/>
            <a:ext cx="2423160" cy="1463040"/>
            <a:chOff x="3840480" y="2834640"/>
            <a:chExt cx="2423160" cy="1463040"/>
          </a:xfrm>
        </p:grpSpPr>
        <p:sp>
          <p:nvSpPr>
            <p:cNvPr id="13" name="Rounded Rectangle 12"/>
            <p:cNvSpPr/>
            <p:nvPr/>
          </p:nvSpPr>
          <p:spPr>
            <a:xfrm>
              <a:off x="3840480" y="2834640"/>
              <a:ext cx="2423160" cy="685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88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40480" y="2834640"/>
              <a:ext cx="2423160" cy="73152"/>
            </a:xfrm>
            <a:prstGeom prst="rect">
              <a:avLst/>
            </a:prstGeom>
            <a:solidFill>
              <a:srgbClr val="E88E36"/>
            </a:solidFill>
            <a:ln>
              <a:solidFill>
                <a:srgbClr val="E88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840480" y="3081528"/>
              <a:ext cx="242316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>
                  <a:solidFill>
                    <a:srgbClr val="0F233E"/>
                  </a:solidFill>
                  <a:latin typeface="Aptos"/>
                </a:rPr>
                <a:t>Stock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5074920" y="3520440"/>
              <a:ext cx="0" cy="777240"/>
            </a:xfrm>
            <a:prstGeom prst="line">
              <a:avLst/>
            </a:prstGeom>
            <a:ln w="19050">
              <a:solidFill>
                <a:srgbClr val="5C6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74F97A6-0B95-C45E-0222-B6980953D5D9}"/>
              </a:ext>
            </a:extLst>
          </p:cNvPr>
          <p:cNvGrpSpPr/>
          <p:nvPr/>
        </p:nvGrpSpPr>
        <p:grpSpPr>
          <a:xfrm>
            <a:off x="6949440" y="2834640"/>
            <a:ext cx="2423160" cy="1463040"/>
            <a:chOff x="6949440" y="2834640"/>
            <a:chExt cx="2423160" cy="1463040"/>
          </a:xfrm>
        </p:grpSpPr>
        <p:sp>
          <p:nvSpPr>
            <p:cNvPr id="19" name="Rounded Rectangle 18"/>
            <p:cNvSpPr/>
            <p:nvPr/>
          </p:nvSpPr>
          <p:spPr>
            <a:xfrm>
              <a:off x="6949440" y="2834640"/>
              <a:ext cx="2423160" cy="685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C4C4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949440" y="2834640"/>
              <a:ext cx="2423160" cy="73152"/>
            </a:xfrm>
            <a:prstGeom prst="rect">
              <a:avLst/>
            </a:prstGeom>
            <a:solidFill>
              <a:srgbClr val="CC4C4C"/>
            </a:solidFill>
            <a:ln>
              <a:solidFill>
                <a:srgbClr val="CC4C4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49440" y="3081528"/>
              <a:ext cx="242316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>
                  <a:solidFill>
                    <a:srgbClr val="0F233E"/>
                  </a:solidFill>
                  <a:latin typeface="Aptos"/>
                </a:rPr>
                <a:t>Emergency Events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8138160" y="3520440"/>
              <a:ext cx="0" cy="777240"/>
            </a:xfrm>
            <a:prstGeom prst="line">
              <a:avLst/>
            </a:prstGeom>
            <a:ln w="19050">
              <a:solidFill>
                <a:srgbClr val="5C6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4FD2E6E-7371-B905-5942-86B4D6C29EF8}"/>
              </a:ext>
            </a:extLst>
          </p:cNvPr>
          <p:cNvGrpSpPr/>
          <p:nvPr/>
        </p:nvGrpSpPr>
        <p:grpSpPr>
          <a:xfrm>
            <a:off x="3154680" y="4343400"/>
            <a:ext cx="3108960" cy="685800"/>
            <a:chOff x="3154680" y="4343400"/>
            <a:chExt cx="3108960" cy="685800"/>
          </a:xfrm>
        </p:grpSpPr>
        <p:sp>
          <p:nvSpPr>
            <p:cNvPr id="25" name="Rounded Rectangle 24"/>
            <p:cNvSpPr/>
            <p:nvPr/>
          </p:nvSpPr>
          <p:spPr>
            <a:xfrm>
              <a:off x="3840480" y="4343400"/>
              <a:ext cx="2423160" cy="685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5C6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840480" y="4343400"/>
              <a:ext cx="2423160" cy="73152"/>
            </a:xfrm>
            <a:prstGeom prst="rect">
              <a:avLst/>
            </a:prstGeom>
            <a:solidFill>
              <a:srgbClr val="5C6C7D"/>
            </a:solidFill>
            <a:ln>
              <a:solidFill>
                <a:srgbClr val="5C6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40480" y="4590288"/>
              <a:ext cx="2423160" cy="30777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F233E"/>
                  </a:solidFill>
                  <a:latin typeface="Aptos"/>
                </a:rPr>
                <a:t>Delivered Item</a:t>
              </a:r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3154680" y="4681728"/>
              <a:ext cx="640080" cy="0"/>
            </a:xfrm>
            <a:prstGeom prst="line">
              <a:avLst/>
            </a:prstGeom>
            <a:ln w="19050">
              <a:solidFill>
                <a:srgbClr val="5C6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C7D"/>
                </a:solidFill>
                <a:latin typeface="Aptos"/>
              </a:rPr>
              <a:t>ERIMS • Project Proposal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10528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C7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8CF49A-5B72-0E9B-83B1-8A8617071102}"/>
              </a:ext>
            </a:extLst>
          </p:cNvPr>
          <p:cNvSpPr txBox="1"/>
          <p:nvPr/>
        </p:nvSpPr>
        <p:spPr>
          <a:xfrm>
            <a:off x="594360" y="38404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A4A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ADAE1-CF1A-0B7F-9DBB-9ABFEF5EE080}"/>
              </a:ext>
            </a:extLst>
          </p:cNvPr>
          <p:cNvSpPr txBox="1"/>
          <p:nvPr/>
        </p:nvSpPr>
        <p:spPr>
          <a:xfrm>
            <a:off x="9966960" y="438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0918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1E7833-4007-9D66-3318-113F8E4EAE39}"/>
              </a:ext>
            </a:extLst>
          </p:cNvPr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DBAEA8-4E9D-77F7-B01F-8B2ED16FA344}"/>
              </a:ext>
            </a:extLst>
          </p:cNvPr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</a:defRPr>
            </a:pPr>
            <a:r>
              <a:t>ERIMS | Project Proposal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08797B-63E2-286E-7737-CABB71CE625B}"/>
              </a:ext>
            </a:extLst>
          </p:cNvPr>
          <p:cNvSpPr txBox="1"/>
          <p:nvPr/>
        </p:nvSpPr>
        <p:spPr>
          <a:xfrm>
            <a:off x="10881360" y="650138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A"/>
                </a:solidFill>
              </a:defRPr>
            </a:pPr>
            <a:r>
              <a:t>10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040F633-BE0D-3856-83D1-467C044608B9}"/>
              </a:ext>
            </a:extLst>
          </p:cNvPr>
          <p:cNvGrpSpPr/>
          <p:nvPr/>
        </p:nvGrpSpPr>
        <p:grpSpPr>
          <a:xfrm>
            <a:off x="2880360" y="960120"/>
            <a:ext cx="6355080" cy="3703319"/>
            <a:chOff x="2880360" y="960120"/>
            <a:chExt cx="6355080" cy="3703319"/>
          </a:xfrm>
        </p:grpSpPr>
        <p:sp>
          <p:nvSpPr>
            <p:cNvPr id="13" name="Rounded Rectangle 8">
              <a:extLst>
                <a:ext uri="{FF2B5EF4-FFF2-40B4-BE49-F238E27FC236}">
                  <a16:creationId xmlns:a16="http://schemas.microsoft.com/office/drawing/2014/main" id="{0983B661-DFAC-FCC5-16B6-4AF79FC7C974}"/>
                </a:ext>
              </a:extLst>
            </p:cNvPr>
            <p:cNvSpPr/>
            <p:nvPr/>
          </p:nvSpPr>
          <p:spPr>
            <a:xfrm>
              <a:off x="4206240" y="960120"/>
              <a:ext cx="3749039" cy="548640"/>
            </a:xfrm>
            <a:prstGeom prst="roundRect">
              <a:avLst/>
            </a:prstGeom>
            <a:solidFill>
              <a:srgbClr val="142A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651D52-56C9-478A-2162-EB4C119B5951}"/>
                </a:ext>
              </a:extLst>
            </p:cNvPr>
            <p:cNvSpPr txBox="1"/>
            <p:nvPr/>
          </p:nvSpPr>
          <p:spPr>
            <a:xfrm>
              <a:off x="4279392" y="1069848"/>
              <a:ext cx="3602735" cy="3657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700" b="1">
                  <a:solidFill>
                    <a:srgbClr val="FFFFFF"/>
                  </a:solidFill>
                  <a:latin typeface="Aptos"/>
                </a:defRPr>
              </a:pPr>
              <a:r>
                <a:t>ERIMS USERS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1AA7EEB-BC87-B71A-11F3-67E6BC6DDAAD}"/>
                </a:ext>
              </a:extLst>
            </p:cNvPr>
            <p:cNvSpPr txBox="1"/>
            <p:nvPr/>
          </p:nvSpPr>
          <p:spPr>
            <a:xfrm>
              <a:off x="5897880" y="1554480"/>
              <a:ext cx="3200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1">
                  <a:solidFill>
                    <a:srgbClr val="5F6C7A"/>
                  </a:solidFill>
                  <a:latin typeface="Aptos"/>
                </a:defRPr>
              </a:pPr>
              <a:r>
                <a:t>↓</a:t>
              </a:r>
            </a:p>
          </p:txBody>
        </p:sp>
        <p:sp>
          <p:nvSpPr>
            <p:cNvPr id="19" name="Rounded Rectangle 11">
              <a:extLst>
                <a:ext uri="{FF2B5EF4-FFF2-40B4-BE49-F238E27FC236}">
                  <a16:creationId xmlns:a16="http://schemas.microsoft.com/office/drawing/2014/main" id="{2B44E2EC-B068-8792-8061-0EB4EAA8940D}"/>
                </a:ext>
              </a:extLst>
            </p:cNvPr>
            <p:cNvSpPr/>
            <p:nvPr/>
          </p:nvSpPr>
          <p:spPr>
            <a:xfrm>
              <a:off x="2880360" y="1874519"/>
              <a:ext cx="6355080" cy="777240"/>
            </a:xfrm>
            <a:prstGeom prst="roundRect">
              <a:avLst/>
            </a:prstGeom>
            <a:solidFill>
              <a:srgbClr val="2665A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0A9D4B0-1527-C5EE-E254-F43D6D51C231}"/>
                </a:ext>
              </a:extLst>
            </p:cNvPr>
            <p:cNvSpPr txBox="1"/>
            <p:nvPr/>
          </p:nvSpPr>
          <p:spPr>
            <a:xfrm>
              <a:off x="2953512" y="1984248"/>
              <a:ext cx="6208776" cy="594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500" b="1">
                  <a:solidFill>
                    <a:srgbClr val="FFFFFF"/>
                  </a:solidFill>
                  <a:latin typeface="Aptos"/>
                </a:defRPr>
              </a:pPr>
              <a:r>
                <a:t>Django Web Application</a:t>
              </a:r>
              <a:br/>
              <a:r>
                <a:t>Dashboard • Inventory • Procurement • Emergency • Reports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648B867-5D53-84E3-C377-0309B4963B27}"/>
                </a:ext>
              </a:extLst>
            </p:cNvPr>
            <p:cNvSpPr txBox="1"/>
            <p:nvPr/>
          </p:nvSpPr>
          <p:spPr>
            <a:xfrm>
              <a:off x="5897880" y="2697480"/>
              <a:ext cx="3200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1">
                  <a:solidFill>
                    <a:srgbClr val="5F6C7A"/>
                  </a:solidFill>
                  <a:latin typeface="Aptos"/>
                </a:defRPr>
              </a:pPr>
              <a:r>
                <a:t>↓</a:t>
              </a:r>
            </a:p>
          </p:txBody>
        </p:sp>
        <p:sp>
          <p:nvSpPr>
            <p:cNvPr id="25" name="Rounded Rectangle 14">
              <a:extLst>
                <a:ext uri="{FF2B5EF4-FFF2-40B4-BE49-F238E27FC236}">
                  <a16:creationId xmlns:a16="http://schemas.microsoft.com/office/drawing/2014/main" id="{8C074B98-4F04-FFC6-6258-AA526E750DE4}"/>
                </a:ext>
              </a:extLst>
            </p:cNvPr>
            <p:cNvSpPr/>
            <p:nvPr/>
          </p:nvSpPr>
          <p:spPr>
            <a:xfrm>
              <a:off x="3657600" y="3017520"/>
              <a:ext cx="4800600" cy="594360"/>
            </a:xfrm>
            <a:prstGeom prst="roundRect">
              <a:avLst/>
            </a:prstGeom>
            <a:solidFill>
              <a:srgbClr val="2091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120B4F5-2B8E-BC58-68E8-E112E1165433}"/>
                </a:ext>
              </a:extLst>
            </p:cNvPr>
            <p:cNvSpPr txBox="1"/>
            <p:nvPr/>
          </p:nvSpPr>
          <p:spPr>
            <a:xfrm>
              <a:off x="3730752" y="3127248"/>
              <a:ext cx="4654296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500" b="1">
                  <a:solidFill>
                    <a:srgbClr val="FFFFFF"/>
                  </a:solidFill>
                  <a:latin typeface="Aptos"/>
                </a:defRPr>
              </a:pPr>
              <a:r>
                <a:rPr dirty="0"/>
                <a:t> Django Framework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A778350-ECBA-E08A-D2E2-94105D2D0D33}"/>
                </a:ext>
              </a:extLst>
            </p:cNvPr>
            <p:cNvSpPr txBox="1"/>
            <p:nvPr/>
          </p:nvSpPr>
          <p:spPr>
            <a:xfrm>
              <a:off x="5897880" y="3657600"/>
              <a:ext cx="3200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000" b="1">
                  <a:solidFill>
                    <a:srgbClr val="5F6C7A"/>
                  </a:solidFill>
                  <a:latin typeface="Aptos"/>
                </a:defRPr>
              </a:pPr>
              <a:r>
                <a:t>↓</a:t>
              </a:r>
            </a:p>
          </p:txBody>
        </p:sp>
        <p:sp>
          <p:nvSpPr>
            <p:cNvPr id="31" name="Rounded Rectangle 17">
              <a:extLst>
                <a:ext uri="{FF2B5EF4-FFF2-40B4-BE49-F238E27FC236}">
                  <a16:creationId xmlns:a16="http://schemas.microsoft.com/office/drawing/2014/main" id="{18CEAB88-A538-3000-7E2E-0BE2D1D532CA}"/>
                </a:ext>
              </a:extLst>
            </p:cNvPr>
            <p:cNvSpPr/>
            <p:nvPr/>
          </p:nvSpPr>
          <p:spPr>
            <a:xfrm>
              <a:off x="3886200" y="3977639"/>
              <a:ext cx="4343400" cy="685800"/>
            </a:xfrm>
            <a:prstGeom prst="roundRect">
              <a:avLst/>
            </a:prstGeom>
            <a:solidFill>
              <a:srgbClr val="142A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8071C3F-C6C9-5A73-833A-31FB55D8C675}"/>
                </a:ext>
              </a:extLst>
            </p:cNvPr>
            <p:cNvSpPr txBox="1"/>
            <p:nvPr/>
          </p:nvSpPr>
          <p:spPr>
            <a:xfrm>
              <a:off x="3959352" y="4087368"/>
              <a:ext cx="419709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700" b="1">
                  <a:solidFill>
                    <a:srgbClr val="FFFFFF"/>
                  </a:solidFill>
                  <a:latin typeface="Aptos"/>
                </a:defRPr>
              </a:pPr>
              <a:r>
                <a:rPr dirty="0"/>
                <a:t>PostgreSQL</a:t>
              </a:r>
              <a:r>
                <a:rPr lang="en-US" dirty="0"/>
                <a:t>/ SQL lite</a:t>
              </a:r>
              <a:r>
                <a:rPr dirty="0"/>
                <a:t> Database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2E0EA41-E444-02C0-5116-1544418F9F0E}"/>
              </a:ext>
            </a:extLst>
          </p:cNvPr>
          <p:cNvSpPr txBox="1"/>
          <p:nvPr/>
        </p:nvSpPr>
        <p:spPr>
          <a:xfrm>
            <a:off x="1188720" y="525780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C7A"/>
                </a:solidFill>
                <a:latin typeface="Aptos"/>
              </a:defRPr>
            </a:pPr>
            <a:r>
              <a:t>Django Admin supports internal administration; the custom ERIMS interface remains the user-facing application.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67D88C-A420-04E4-9EB6-76EE0532CB91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36582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33E"/>
                </a:solidFill>
                <a:latin typeface="Aptos"/>
              </a:rPr>
              <a:t>Dashboard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C7D"/>
                </a:solidFill>
                <a:latin typeface="Aptos"/>
              </a:rPr>
              <a:t>Turn operational records into actionable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35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0835640" cy="502920"/>
          </a:xfrm>
          <a:prstGeom prst="rect">
            <a:avLst/>
          </a:prstGeom>
          <a:solidFill>
            <a:srgbClr val="0F233E"/>
          </a:solidFill>
          <a:ln>
            <a:solidFill>
              <a:srgbClr val="0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9903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ERIMS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011680"/>
            <a:ext cx="2103120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219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C7D"/>
                </a:solidFill>
                <a:latin typeface="Aptos"/>
              </a:rPr>
              <a:t>Total Supplies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26CB4"/>
                </a:solidFill>
                <a:latin typeface="Aptos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11680"/>
            <a:ext cx="2103120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22219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C7D"/>
                </a:solidFill>
                <a:latin typeface="Aptos"/>
              </a:rPr>
              <a:t>Low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8716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CC4C4C"/>
                </a:solidFill>
                <a:latin typeface="Aptos"/>
              </a:rPr>
              <a:t>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011680"/>
            <a:ext cx="2103120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9320" y="22219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C7D"/>
                </a:solidFill>
                <a:latin typeface="Aptos"/>
              </a:rPr>
              <a:t>Expiring Soon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48716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88E36"/>
                </a:solidFill>
                <a:latin typeface="Aptos"/>
              </a:rPr>
              <a:t>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011680"/>
            <a:ext cx="2103120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22199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C7D"/>
                </a:solidFill>
                <a:latin typeface="Aptos"/>
              </a:rPr>
              <a:t>Active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8716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8969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3375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33E"/>
                </a:solidFill>
                <a:latin typeface="Aptos"/>
              </a:rPr>
              <a:t>Stock by 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03320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C7D"/>
                </a:solidFill>
                <a:latin typeface="Aptos"/>
              </a:rPr>
              <a:t>Medical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19" y="3721607"/>
            <a:ext cx="2971800" cy="146304"/>
          </a:xfrm>
          <a:prstGeom prst="rect">
            <a:avLst/>
          </a:prstGeom>
          <a:solidFill>
            <a:srgbClr val="E2EBF2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74519" y="3721607"/>
            <a:ext cx="1931670" cy="146304"/>
          </a:xfrm>
          <a:prstGeom prst="rect">
            <a:avLst/>
          </a:prstGeom>
          <a:solidFill>
            <a:srgbClr val="226CB4"/>
          </a:solidFill>
          <a:ln>
            <a:solidFill>
              <a:srgbClr val="22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050791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C7D"/>
                </a:solidFill>
                <a:latin typeface="Aptos"/>
              </a:rPr>
              <a:t>Food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4069079"/>
            <a:ext cx="2971800" cy="146304"/>
          </a:xfrm>
          <a:prstGeom prst="rect">
            <a:avLst/>
          </a:prstGeom>
          <a:solidFill>
            <a:srgbClr val="E2EBF2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874519" y="4069079"/>
            <a:ext cx="2436876" cy="146304"/>
          </a:xfrm>
          <a:prstGeom prst="rect">
            <a:avLst/>
          </a:prstGeom>
          <a:solidFill>
            <a:srgbClr val="189691"/>
          </a:solidFill>
          <a:ln>
            <a:solidFill>
              <a:srgbClr val="18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439826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C7D"/>
                </a:solidFill>
                <a:latin typeface="Aptos"/>
              </a:rPr>
              <a:t>Water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4416551"/>
            <a:ext cx="2971800" cy="146304"/>
          </a:xfrm>
          <a:prstGeom prst="rect">
            <a:avLst/>
          </a:prstGeom>
          <a:solidFill>
            <a:srgbClr val="E2EBF2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874519" y="4416551"/>
            <a:ext cx="2823210" cy="146304"/>
          </a:xfrm>
          <a:prstGeom prst="rect">
            <a:avLst/>
          </a:prstGeom>
          <a:solidFill>
            <a:srgbClr val="4CBECD"/>
          </a:solidFill>
          <a:ln>
            <a:solidFill>
              <a:srgbClr val="4C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4745736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6C7D"/>
                </a:solidFill>
                <a:latin typeface="Aptos"/>
              </a:rPr>
              <a:t>Shelter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4764023"/>
            <a:ext cx="2971800" cy="146304"/>
          </a:xfrm>
          <a:prstGeom prst="rect">
            <a:avLst/>
          </a:prstGeom>
          <a:solidFill>
            <a:srgbClr val="E2EBF2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874519" y="4764023"/>
            <a:ext cx="1426464" cy="146304"/>
          </a:xfrm>
          <a:prstGeom prst="rect">
            <a:avLst/>
          </a:prstGeom>
          <a:solidFill>
            <a:srgbClr val="E88E36"/>
          </a:solidFill>
          <a:ln>
            <a:solidFill>
              <a:srgbClr val="E8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77840" y="33375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33E"/>
                </a:solidFill>
                <a:latin typeface="Aptos"/>
              </a:rPr>
              <a:t>Monthly Distribution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4599432"/>
            <a:ext cx="228600" cy="384048"/>
          </a:xfrm>
          <a:prstGeom prst="rect">
            <a:avLst/>
          </a:prstGeom>
          <a:solidFill>
            <a:srgbClr val="226CB4"/>
          </a:solidFill>
          <a:ln>
            <a:solidFill>
              <a:srgbClr val="22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26480" y="4369003"/>
            <a:ext cx="228600" cy="614476"/>
          </a:xfrm>
          <a:prstGeom prst="rect">
            <a:avLst/>
          </a:prstGeom>
          <a:solidFill>
            <a:srgbClr val="189691"/>
          </a:solidFill>
          <a:ln>
            <a:solidFill>
              <a:srgbClr val="18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37960" y="4471416"/>
            <a:ext cx="228600" cy="512063"/>
          </a:xfrm>
          <a:prstGeom prst="rect">
            <a:avLst/>
          </a:prstGeom>
          <a:solidFill>
            <a:srgbClr val="4CBECD"/>
          </a:solidFill>
          <a:ln>
            <a:solidFill>
              <a:srgbClr val="4C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49440" y="4087368"/>
            <a:ext cx="228600" cy="896111"/>
          </a:xfrm>
          <a:prstGeom prst="rect">
            <a:avLst/>
          </a:prstGeom>
          <a:solidFill>
            <a:srgbClr val="E88E36"/>
          </a:solidFill>
          <a:ln>
            <a:solidFill>
              <a:srgbClr val="E8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60920" y="4279392"/>
            <a:ext cx="228600" cy="704088"/>
          </a:xfrm>
          <a:prstGeom prst="rect">
            <a:avLst/>
          </a:prstGeom>
          <a:solidFill>
            <a:srgbClr val="226CB4"/>
          </a:solidFill>
          <a:ln>
            <a:solidFill>
              <a:srgbClr val="22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0" y="3895344"/>
            <a:ext cx="228600" cy="1088136"/>
          </a:xfrm>
          <a:prstGeom prst="rect">
            <a:avLst/>
          </a:prstGeom>
          <a:solidFill>
            <a:srgbClr val="189691"/>
          </a:solidFill>
          <a:ln>
            <a:solidFill>
              <a:srgbClr val="18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83879" y="4151376"/>
            <a:ext cx="228600" cy="832103"/>
          </a:xfrm>
          <a:prstGeom prst="rect">
            <a:avLst/>
          </a:prstGeom>
          <a:solidFill>
            <a:srgbClr val="4CBECD"/>
          </a:solidFill>
          <a:ln>
            <a:solidFill>
              <a:srgbClr val="4C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595360" y="3831336"/>
            <a:ext cx="228600" cy="1152144"/>
          </a:xfrm>
          <a:prstGeom prst="rect">
            <a:avLst/>
          </a:prstGeom>
          <a:solidFill>
            <a:srgbClr val="E88E36"/>
          </a:solidFill>
          <a:ln>
            <a:solidFill>
              <a:srgbClr val="E8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77840" y="5257800"/>
            <a:ext cx="4297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C7D"/>
                </a:solidFill>
                <a:latin typeface="Aptos"/>
              </a:rPr>
              <a:t>Illustrative dashboard concept — values are examples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C7D"/>
                </a:solidFill>
                <a:latin typeface="Aptos"/>
              </a:rPr>
              <a:t>ERIMS • Project Proposal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510528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C7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9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2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1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  <p:bldP spid="28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33E"/>
                </a:solidFill>
                <a:latin typeface="Aptos"/>
              </a:rPr>
              <a:t>Timeline: 4 Weeks, Solo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C7D"/>
                </a:solidFill>
                <a:latin typeface="Aptos"/>
              </a:rPr>
              <a:t>One month, incremental delivery, with buffer time at the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6968" y="1581912"/>
            <a:ext cx="457200" cy="457200"/>
          </a:xfrm>
          <a:prstGeom prst="ellipse">
            <a:avLst/>
          </a:prstGeom>
          <a:solidFill>
            <a:srgbClr val="226CB4"/>
          </a:solidFill>
          <a:ln>
            <a:solidFill>
              <a:srgbClr val="22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00200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8191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E"/>
                </a:solidFill>
                <a:latin typeface="Aptos"/>
              </a:rPr>
              <a:t>Week 1: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3911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C7D"/>
                </a:solidFill>
                <a:latin typeface="Aptos"/>
              </a:rPr>
              <a:t>Schema, ER diagram, seed data, key SQL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81728" y="1581912"/>
            <a:ext cx="457200" cy="457200"/>
          </a:xfrm>
          <a:prstGeom prst="ellipse">
            <a:avLst/>
          </a:prstGeom>
          <a:solidFill>
            <a:srgbClr val="189691"/>
          </a:solidFill>
          <a:ln>
            <a:solidFill>
              <a:srgbClr val="18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600200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58191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E"/>
                </a:solidFill>
                <a:latin typeface="Aptos"/>
              </a:rPr>
              <a:t>Week 2: Core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03911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C7D"/>
                </a:solidFill>
                <a:latin typeface="Aptos"/>
              </a:rPr>
              <a:t>Django models, login and roles, stock pages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25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76488" y="1581912"/>
            <a:ext cx="457200" cy="457200"/>
          </a:xfrm>
          <a:prstGeom prst="ellipse">
            <a:avLst/>
          </a:prstGeom>
          <a:solidFill>
            <a:srgbClr val="E88E36"/>
          </a:solidFill>
          <a:ln>
            <a:solidFill>
              <a:srgbClr val="E8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1600200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58191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E"/>
                </a:solidFill>
                <a:latin typeface="Aptos"/>
              </a:rPr>
              <a:t>Week 3: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3911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C7D"/>
                </a:solidFill>
                <a:latin typeface="Aptos"/>
              </a:rPr>
              <a:t>Alerts, shortage check, transfer suggestions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375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3593592"/>
            <a:ext cx="457200" cy="457200"/>
          </a:xfrm>
          <a:prstGeom prst="ellipse">
            <a:avLst/>
          </a:prstGeom>
          <a:solidFill>
            <a:srgbClr val="4CBECD"/>
          </a:solidFill>
          <a:ln>
            <a:solidFill>
              <a:srgbClr val="4C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611880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59359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E"/>
                </a:solidFill>
                <a:latin typeface="Aptos"/>
              </a:rPr>
              <a:t>Week 4: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05079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C7D"/>
                </a:solidFill>
                <a:latin typeface="Aptos"/>
              </a:rPr>
              <a:t>Dashboard, testing, bug fixes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3375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681728" y="3593592"/>
            <a:ext cx="457200" cy="457200"/>
          </a:xfrm>
          <a:prstGeom prst="ellipse">
            <a:avLst/>
          </a:prstGeom>
          <a:solidFill>
            <a:srgbClr val="CC4C4C"/>
          </a:solidFill>
          <a:ln>
            <a:solidFill>
              <a:srgbClr val="CC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81728" y="3611880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59359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E"/>
                </a:solidFill>
                <a:latin typeface="Aptos"/>
              </a:rPr>
              <a:t>Days 27-28: 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05079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C7D"/>
                </a:solidFill>
                <a:latin typeface="Aptos"/>
              </a:rPr>
              <a:t>Release on Render and verify with test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33756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476488" y="3593592"/>
            <a:ext cx="457200" cy="457200"/>
          </a:xfrm>
          <a:prstGeom prst="ellipse">
            <a:avLst/>
          </a:prstGeom>
          <a:solidFill>
            <a:srgbClr val="349969"/>
          </a:solidFill>
          <a:ln>
            <a:solidFill>
              <a:srgbClr val="349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76488" y="3611880"/>
            <a:ext cx="457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59359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E"/>
                </a:solidFill>
                <a:latin typeface="Aptos"/>
              </a:rPr>
              <a:t>Days 29-30: Wrap-up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05079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C7D"/>
                </a:solidFill>
                <a:latin typeface="Aptos"/>
              </a:rPr>
              <a:t>Documentation, demo prep, and buffer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C7D"/>
                </a:solidFill>
                <a:latin typeface="Aptos"/>
              </a:rPr>
              <a:t>ERIMS • Project Proposal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510528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C7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33E"/>
                </a:solidFill>
                <a:latin typeface="Aptos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C7D"/>
                </a:solidFill>
                <a:latin typeface="Aptos"/>
              </a:rPr>
              <a:t>Proposed tools and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4937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9728" cy="777240"/>
          </a:xfrm>
          <a:prstGeom prst="rect">
            <a:avLst/>
          </a:prstGeom>
          <a:solidFill>
            <a:srgbClr val="226CB4"/>
          </a:solidFill>
          <a:ln>
            <a:solidFill>
              <a:srgbClr val="22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E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461700"/>
            <a:ext cx="2926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142A4A"/>
                </a:solidFill>
                <a:latin typeface="Aptos"/>
              </a:defRPr>
            </a:pPr>
            <a:r>
              <a:rPr lang="en-US" sz="1200" dirty="0"/>
              <a:t>Django Templates + HTML/CSS/JS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4937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109728" cy="777240"/>
          </a:xfrm>
          <a:prstGeom prst="rect">
            <a:avLst/>
          </a:prstGeom>
          <a:solidFill>
            <a:srgbClr val="4CBECD"/>
          </a:solidFill>
          <a:ln>
            <a:solidFill>
              <a:srgbClr val="4C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E"/>
                </a:solidFill>
                <a:latin typeface="Aptos"/>
              </a:rPr>
              <a:t>UI &amp; 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1417320"/>
            <a:ext cx="2926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5C6C7D"/>
                </a:solidFill>
                <a:latin typeface="Aptos"/>
              </a:rPr>
              <a:t>chart,.js </a:t>
            </a:r>
            <a:endParaRPr sz="1200" b="0" dirty="0">
              <a:solidFill>
                <a:srgbClr val="5C6C7D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2331720"/>
            <a:ext cx="4937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331720"/>
            <a:ext cx="109728" cy="777240"/>
          </a:xfrm>
          <a:prstGeom prst="rect">
            <a:avLst/>
          </a:prstGeom>
          <a:solidFill>
            <a:srgbClr val="189691"/>
          </a:solidFill>
          <a:ln>
            <a:solidFill>
              <a:srgbClr val="18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2514600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E"/>
                </a:solidFill>
                <a:latin typeface="Aptos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514600"/>
            <a:ext cx="2926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dirty="0">
                <a:solidFill>
                  <a:srgbClr val="5C6C7D"/>
                </a:solidFill>
                <a:latin typeface="Aptos"/>
              </a:rPr>
              <a:t>Django</a:t>
            </a:r>
            <a:endParaRPr sz="1200" b="0" dirty="0">
              <a:solidFill>
                <a:srgbClr val="5C6C7D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09360" y="2331720"/>
            <a:ext cx="4937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2331720"/>
            <a:ext cx="109728" cy="777240"/>
          </a:xfrm>
          <a:prstGeom prst="rect">
            <a:avLst/>
          </a:prstGeom>
          <a:solidFill>
            <a:srgbClr val="E88E36"/>
          </a:solidFill>
          <a:ln>
            <a:solidFill>
              <a:srgbClr val="E88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514600"/>
            <a:ext cx="13258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b="1" dirty="0">
                <a:solidFill>
                  <a:srgbClr val="0F233E"/>
                </a:solidFill>
                <a:latin typeface="Aptos"/>
              </a:rPr>
              <a:t>UI</a:t>
            </a:r>
            <a:endParaRPr sz="1300" b="1" dirty="0">
              <a:solidFill>
                <a:srgbClr val="0F233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55280" y="2514600"/>
            <a:ext cx="2926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5C6C7D"/>
                </a:solidFill>
                <a:latin typeface="Aptos"/>
              </a:rPr>
              <a:t>Bootstrap / Tailwind CSS</a:t>
            </a:r>
            <a:endParaRPr sz="1200" b="0" dirty="0">
              <a:solidFill>
                <a:srgbClr val="5C6C7D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60" y="3429000"/>
            <a:ext cx="4937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3429000"/>
            <a:ext cx="109728" cy="777240"/>
          </a:xfrm>
          <a:prstGeom prst="rect">
            <a:avLst/>
          </a:prstGeom>
          <a:solidFill>
            <a:srgbClr val="349969"/>
          </a:solidFill>
          <a:ln>
            <a:solidFill>
              <a:srgbClr val="349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3611880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E"/>
                </a:solidFill>
                <a:latin typeface="Aptos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611880"/>
            <a:ext cx="2926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C6C7D"/>
                </a:solidFill>
                <a:latin typeface="Aptos"/>
              </a:rPr>
              <a:t>PostgreSQL</a:t>
            </a:r>
            <a:r>
              <a:rPr lang="en-US" sz="1200" b="0" dirty="0">
                <a:solidFill>
                  <a:srgbClr val="5C6C7D"/>
                </a:solidFill>
                <a:latin typeface="Aptos"/>
              </a:rPr>
              <a:t> / SQL </a:t>
            </a:r>
            <a:r>
              <a:rPr lang="en-US" sz="1200" b="0" dirty="0" err="1">
                <a:solidFill>
                  <a:srgbClr val="5C6C7D"/>
                </a:solidFill>
                <a:latin typeface="Aptos"/>
              </a:rPr>
              <a:t>LIte</a:t>
            </a:r>
            <a:endParaRPr sz="1200" b="0" dirty="0">
              <a:solidFill>
                <a:srgbClr val="5C6C7D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09360" y="3429000"/>
            <a:ext cx="4937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3429000"/>
            <a:ext cx="109728" cy="777240"/>
          </a:xfrm>
          <a:prstGeom prst="rect">
            <a:avLst/>
          </a:prstGeom>
          <a:solidFill>
            <a:srgbClr val="CC4C4C"/>
          </a:solidFill>
          <a:ln>
            <a:solidFill>
              <a:srgbClr val="CC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3611880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E"/>
                </a:solidFill>
                <a:latin typeface="Aptos"/>
              </a:rPr>
              <a:t>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3611880"/>
            <a:ext cx="2926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5C6C7D"/>
                </a:solidFill>
                <a:latin typeface="Aptos"/>
              </a:rPr>
              <a:t>Django Ath + Group</a:t>
            </a:r>
            <a:endParaRPr sz="1200" b="0" dirty="0">
              <a:solidFill>
                <a:srgbClr val="5C6C7D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22960" y="4526279"/>
            <a:ext cx="4937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" y="4526279"/>
            <a:ext cx="109728" cy="777240"/>
          </a:xfrm>
          <a:prstGeom prst="rect">
            <a:avLst/>
          </a:prstGeom>
          <a:solidFill>
            <a:srgbClr val="0F233E"/>
          </a:solidFill>
          <a:ln>
            <a:solidFill>
              <a:srgbClr val="0F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4709159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E"/>
                </a:solidFill>
                <a:latin typeface="Aptos"/>
              </a:rPr>
              <a:t>Version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709159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C7D"/>
                </a:solidFill>
                <a:latin typeface="Aptos"/>
              </a:rPr>
              <a:t>Git + GitHub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526279"/>
            <a:ext cx="4937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4526279"/>
            <a:ext cx="109728" cy="777240"/>
          </a:xfrm>
          <a:prstGeom prst="rect">
            <a:avLst/>
          </a:prstGeom>
          <a:solidFill>
            <a:srgbClr val="5C6C7D"/>
          </a:solidFill>
          <a:ln>
            <a:solidFill>
              <a:srgbClr val="5C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4709159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33E"/>
                </a:solidFill>
                <a:latin typeface="Aptos"/>
              </a:rPr>
              <a:t>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4709159"/>
            <a:ext cx="2926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5C6C7D"/>
                </a:solidFill>
                <a:latin typeface="Aptos"/>
              </a:rPr>
              <a:t>Render +</a:t>
            </a:r>
            <a:r>
              <a:rPr lang="en-US" sz="1200" b="0" dirty="0" err="1">
                <a:solidFill>
                  <a:srgbClr val="5C6C7D"/>
                </a:solidFill>
                <a:latin typeface="Aptos"/>
              </a:rPr>
              <a:t>postgreSQL</a:t>
            </a:r>
            <a:endParaRPr sz="1200" b="0" dirty="0">
              <a:solidFill>
                <a:srgbClr val="5C6C7D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C7D"/>
                </a:solidFill>
                <a:latin typeface="Aptos"/>
              </a:rPr>
              <a:t>ERIMS • Project Proposal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510528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C7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C7D"/>
                </a:solidFill>
                <a:latin typeface="Aptos"/>
              </a:rPr>
              <a:t>What the project can deliver and how it may evolve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" y="184270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F233E"/>
                </a:solidFill>
                <a:latin typeface="Aptos"/>
              </a:rPr>
              <a:t>Expected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09691"/>
            <a:ext cx="9465003" cy="35394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dirty="0">
                <a:solidFill>
                  <a:srgbClr val="5C6C7D"/>
                </a:solidFill>
                <a:latin typeface="Aptos"/>
              </a:rPr>
              <a:t>• Centralized inventory visibility
• Faster shortage identification
• Improved procurement tracking
• Traceable distribution history
• Reduced expiry-related wastage
• Role-based and auditable operations
• Data-driven monitoring and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C6C7D"/>
                </a:solidFill>
                <a:latin typeface="Aptos"/>
              </a:rPr>
              <a:t>ERIMS • Project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C6C7D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AE0F0A-36A4-B2FD-629B-C05D611C62C6}"/>
              </a:ext>
            </a:extLst>
          </p:cNvPr>
          <p:cNvSpPr txBox="1"/>
          <p:nvPr/>
        </p:nvSpPr>
        <p:spPr>
          <a:xfrm>
            <a:off x="3569866" y="2282903"/>
            <a:ext cx="42429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0" b="1" dirty="0">
                <a:solidFill>
                  <a:srgbClr val="0F233E"/>
                </a:solidFill>
                <a:latin typeface="Aptos"/>
              </a:rPr>
              <a:t>T</a:t>
            </a:r>
            <a:endParaRPr sz="3200" b="1" dirty="0">
              <a:solidFill>
                <a:srgbClr val="0F233E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ED418-A4CB-33DF-374C-A4ABEF25B061}"/>
              </a:ext>
            </a:extLst>
          </p:cNvPr>
          <p:cNvSpPr txBox="1"/>
          <p:nvPr/>
        </p:nvSpPr>
        <p:spPr>
          <a:xfrm>
            <a:off x="4056207" y="2282903"/>
            <a:ext cx="42429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0" b="1" dirty="0">
                <a:solidFill>
                  <a:srgbClr val="0F233E"/>
                </a:solidFill>
                <a:latin typeface="Aptos"/>
              </a:rPr>
              <a:t>H</a:t>
            </a:r>
            <a:endParaRPr sz="3200" b="1" dirty="0">
              <a:solidFill>
                <a:srgbClr val="0F233E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49E97E-C1D5-87F4-6D4F-70FFA6515169}"/>
              </a:ext>
            </a:extLst>
          </p:cNvPr>
          <p:cNvSpPr txBox="1"/>
          <p:nvPr/>
        </p:nvSpPr>
        <p:spPr>
          <a:xfrm>
            <a:off x="4627182" y="2274780"/>
            <a:ext cx="42429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0" b="1" dirty="0">
                <a:solidFill>
                  <a:srgbClr val="0F233E"/>
                </a:solidFill>
                <a:latin typeface="Aptos"/>
              </a:rPr>
              <a:t>A</a:t>
            </a:r>
            <a:endParaRPr sz="3200" b="1" dirty="0">
              <a:solidFill>
                <a:srgbClr val="0F233E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67CCD9-B876-CD1B-31F7-410BEAAAE1C0}"/>
              </a:ext>
            </a:extLst>
          </p:cNvPr>
          <p:cNvSpPr txBox="1"/>
          <p:nvPr/>
        </p:nvSpPr>
        <p:spPr>
          <a:xfrm>
            <a:off x="5209526" y="2282903"/>
            <a:ext cx="42429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0" b="1" dirty="0">
                <a:solidFill>
                  <a:srgbClr val="0F233E"/>
                </a:solidFill>
                <a:latin typeface="Aptos"/>
              </a:rPr>
              <a:t>N</a:t>
            </a:r>
            <a:endParaRPr sz="3200" b="1" dirty="0">
              <a:solidFill>
                <a:srgbClr val="0F233E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F608D6-FA6B-5DAA-5EE2-11E999F8936D}"/>
              </a:ext>
            </a:extLst>
          </p:cNvPr>
          <p:cNvSpPr txBox="1"/>
          <p:nvPr/>
        </p:nvSpPr>
        <p:spPr>
          <a:xfrm>
            <a:off x="5883854" y="2282903"/>
            <a:ext cx="42429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0" b="1" dirty="0">
                <a:solidFill>
                  <a:srgbClr val="0F233E"/>
                </a:solidFill>
                <a:latin typeface="Aptos"/>
              </a:rPr>
              <a:t>K</a:t>
            </a:r>
            <a:endParaRPr sz="3200" b="1" dirty="0">
              <a:solidFill>
                <a:srgbClr val="0F233E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3EBA22-BF83-3AE6-631C-228CC36AB3AD}"/>
              </a:ext>
            </a:extLst>
          </p:cNvPr>
          <p:cNvSpPr txBox="1"/>
          <p:nvPr/>
        </p:nvSpPr>
        <p:spPr>
          <a:xfrm>
            <a:off x="4190709" y="3005821"/>
            <a:ext cx="42429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0" b="1" dirty="0">
                <a:solidFill>
                  <a:srgbClr val="0F233E"/>
                </a:solidFill>
                <a:latin typeface="Aptos"/>
              </a:rPr>
              <a:t>Y</a:t>
            </a:r>
            <a:endParaRPr sz="3200" b="1" dirty="0">
              <a:solidFill>
                <a:srgbClr val="0F233E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309519-3B51-B30F-2D9F-EBF3901441FF}"/>
              </a:ext>
            </a:extLst>
          </p:cNvPr>
          <p:cNvSpPr txBox="1"/>
          <p:nvPr/>
        </p:nvSpPr>
        <p:spPr>
          <a:xfrm>
            <a:off x="4652114" y="3005821"/>
            <a:ext cx="42429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0" b="1" dirty="0">
                <a:solidFill>
                  <a:srgbClr val="0F233E"/>
                </a:solidFill>
                <a:latin typeface="Aptos"/>
              </a:rPr>
              <a:t>O</a:t>
            </a:r>
            <a:endParaRPr sz="3200" b="1" dirty="0">
              <a:solidFill>
                <a:srgbClr val="0F233E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B93991-4D98-1077-6CE8-8C4EDB2D48BF}"/>
              </a:ext>
            </a:extLst>
          </p:cNvPr>
          <p:cNvSpPr txBox="1"/>
          <p:nvPr/>
        </p:nvSpPr>
        <p:spPr>
          <a:xfrm>
            <a:off x="5263620" y="3035858"/>
            <a:ext cx="42429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0" b="1" dirty="0">
                <a:solidFill>
                  <a:srgbClr val="0F233E"/>
                </a:solidFill>
                <a:latin typeface="Aptos"/>
              </a:rPr>
              <a:t>U</a:t>
            </a:r>
            <a:endParaRPr sz="3200" b="1" dirty="0">
              <a:solidFill>
                <a:srgbClr val="0F233E"/>
              </a:solidFill>
              <a:latin typeface="Apto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A10B6F-7766-9338-FAEA-91340B73041D}"/>
              </a:ext>
            </a:extLst>
          </p:cNvPr>
          <p:cNvGrpSpPr/>
          <p:nvPr/>
        </p:nvGrpSpPr>
        <p:grpSpPr>
          <a:xfrm>
            <a:off x="7057984" y="1869810"/>
            <a:ext cx="7351352" cy="3084026"/>
            <a:chOff x="6947452" y="1869810"/>
            <a:chExt cx="5715000" cy="308402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FBB74C8-BFE0-2F62-782E-327C207E539B}"/>
                </a:ext>
              </a:extLst>
            </p:cNvPr>
            <p:cNvSpPr/>
            <p:nvPr/>
          </p:nvSpPr>
          <p:spPr>
            <a:xfrm>
              <a:off x="6947452" y="1878495"/>
              <a:ext cx="193076" cy="307534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9008911-1D58-B1C7-9874-5A5C4E412E12}"/>
                </a:ext>
              </a:extLst>
            </p:cNvPr>
            <p:cNvSpPr/>
            <p:nvPr/>
          </p:nvSpPr>
          <p:spPr>
            <a:xfrm>
              <a:off x="7140528" y="1869810"/>
              <a:ext cx="5521924" cy="30753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144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7 0.00255 L -0.30143 0.0025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60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874</Words>
  <Application>Microsoft Office PowerPoint</Application>
  <PresentationFormat>Widescreen</PresentationFormat>
  <Paragraphs>235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Emergency Resource &amp; Inventory Management System (ERIMS) — Project Proposal</dc:title>
  <dc:subject>Full-stack emergency inventory and resource management platform</dc:subject>
  <dc:creator>Tan</dc:creator>
  <cp:keywords>Emergency Management, Inventory, PostgreSQL, Next.js, Prisma</cp:keywords>
  <dc:description>generated using python-pptx</dc:description>
  <cp:lastModifiedBy>Tanisha Taranoon</cp:lastModifiedBy>
  <cp:revision>8</cp:revision>
  <dcterms:created xsi:type="dcterms:W3CDTF">2013-01-27T09:14:16Z</dcterms:created>
  <dcterms:modified xsi:type="dcterms:W3CDTF">2026-10-07T05:45:28Z</dcterms:modified>
  <cp:category/>
</cp:coreProperties>
</file>